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8" r:id="rId10"/>
    <p:sldId id="279" r:id="rId11"/>
    <p:sldId id="281" r:id="rId12"/>
    <p:sldId id="269" r:id="rId13"/>
    <p:sldId id="270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  <p:sldId id="283" r:id="rId23"/>
    <p:sldId id="284" r:id="rId24"/>
    <p:sldId id="288" r:id="rId25"/>
    <p:sldId id="285" r:id="rId26"/>
    <p:sldId id="286" r:id="rId27"/>
    <p:sldId id="287" r:id="rId28"/>
    <p:sldId id="267" r:id="rId29"/>
    <p:sldId id="266" r:id="rId30"/>
  </p:sldIdLst>
  <p:sldSz cx="18288000" cy="10287000"/>
  <p:notesSz cx="6858000" cy="9144000"/>
  <p:embeddedFontLst>
    <p:embeddedFont>
      <p:font typeface="Cambria Bold" panose="02040803050406030204"/>
      <p:bold r:id="rId34"/>
    </p:embeddedFont>
    <p:embeddedFont>
      <p:font typeface="Calibri (MS)" panose="020F0502020204030204"/>
      <p:regular r:id="rId35"/>
    </p:embeddedFont>
    <p:embeddedFont>
      <p:font typeface="League Spartan" panose="00000800000000000000"/>
      <p:bold r:id="rId36"/>
    </p:embeddedFont>
    <p:embeddedFont>
      <p:font typeface="Calibri (MS) Bold" panose="020F0702030404030204"/>
      <p:bold r:id="rId37"/>
    </p:embeddedFont>
    <p:embeddedFont>
      <p:font typeface="Calibri (MS) Bold" panose="020F0702030404030204" charset="0"/>
      <p:bold r:id="rId38"/>
    </p:embeddedFont>
    <p:embeddedFont>
      <p:font typeface="Cambria" panose="02040503050406030204" pitchFamily="34" charset="-122"/>
      <p:regular r:id="rId39"/>
      <p:bold r:id="rId40"/>
      <p:italic r:id="rId41"/>
      <p:boldItalic r:id="rId42"/>
    </p:embeddedFont>
    <p:embeddedFont>
      <p:font typeface="Cambria" panose="02040503050406030204" pitchFamily="34" charset="0"/>
      <p:regular r:id="rId43"/>
      <p:bold r:id="rId44"/>
      <p:italic r:id="rId45"/>
      <p:boldItalic r:id="rId46"/>
    </p:embeddedFont>
    <p:embeddedFont>
      <p:font typeface="Cambria" panose="02040503050406030204" pitchFamily="34" charset="-120"/>
      <p:regular r:id="rId47"/>
      <p:bold r:id="rId48"/>
      <p:italic r:id="rId49"/>
      <p:boldItalic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" panose="020F0502020204030204" pitchFamily="34" charset="-122"/>
      <p:regular r:id="rId55"/>
      <p:bold r:id="rId56"/>
      <p:italic r:id="rId57"/>
      <p:boldItalic r:id="rId58"/>
    </p:embeddedFont>
    <p:embeddedFont>
      <p:font typeface="Calibri" panose="020F0502020204030204" pitchFamily="34" charset="-120"/>
      <p:regular r:id="rId59"/>
      <p:bold r:id="rId60"/>
      <p:italic r:id="rId61"/>
      <p:boldItalic r:id="rId62"/>
    </p:embeddedFont>
    <p:embeddedFont>
      <p:font typeface="Verdana" panose="020B0604030504040204" pitchFamily="34" charset="0"/>
      <p:regular r:id="rId63"/>
      <p:bold r:id="rId64"/>
      <p:italic r:id="rId65"/>
      <p:boldItalic r:id="rId66"/>
    </p:embeddedFont>
    <p:embeddedFont>
      <p:font typeface="Verdana" panose="020B0604030504040204" pitchFamily="34" charset="-122"/>
      <p:regular r:id="rId67"/>
      <p:bold r:id="rId68"/>
      <p:italic r:id="rId69"/>
      <p:boldItalic r:id="rId70"/>
    </p:embeddedFont>
    <p:embeddedFont>
      <p:font typeface="Verdana" panose="020B0604030504040204" pitchFamily="34" charset="-120"/>
      <p:regular r:id="rId71"/>
      <p:bold r:id="rId72"/>
      <p:italic r:id="rId73"/>
      <p:boldItalic r:id="rId74"/>
    </p:embeddedFont>
    <p:embeddedFont>
      <p:font typeface="Georgia" panose="02040502050405020303" pitchFamily="34" charset="0"/>
      <p:regular r:id="rId75"/>
      <p:bold r:id="rId76"/>
      <p:italic r:id="rId77"/>
      <p:boldItalic r:id="rId78"/>
    </p:embeddedFont>
    <p:embeddedFont>
      <p:font typeface="Georgia" panose="02040502050405020303" pitchFamily="34" charset="-122"/>
      <p:regular r:id="rId79"/>
      <p:bold r:id="rId80"/>
      <p:italic r:id="rId81"/>
      <p:boldItalic r:id="rId82"/>
    </p:embeddedFont>
    <p:embeddedFont>
      <p:font typeface="Georgia" panose="02040502050405020303" pitchFamily="34" charset="-120"/>
      <p:regular r:id="rId83"/>
      <p:bold r:id="rId84"/>
      <p:italic r:id="rId85"/>
      <p:boldItalic r:id="rId86"/>
    </p:embeddedFont>
    <p:embeddedFont>
      <p:font typeface="Calibri Light" panose="020F0302020204030204" pitchFamily="34" charset="0"/>
      <p:regular r:id="rId87"/>
      <p:italic r:id="rId88"/>
    </p:embeddedFont>
    <p:embeddedFont>
      <p:font typeface="Berlin Sans FB Demi" panose="020E0802020502020306" pitchFamily="34" charset="0"/>
      <p:bold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D7C"/>
    <a:srgbClr val="E3E5F1"/>
    <a:srgbClr val="387AA2"/>
    <a:srgbClr val="489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5165" autoAdjust="0"/>
  </p:normalViewPr>
  <p:slideViewPr>
    <p:cSldViewPr showGuides="1">
      <p:cViewPr varScale="1">
        <p:scale>
          <a:sx n="54" d="100"/>
          <a:sy n="54" d="100"/>
        </p:scale>
        <p:origin x="907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9" Type="http://schemas.openxmlformats.org/officeDocument/2006/relationships/font" Target="fonts/font56.fntdata"/><Relationship Id="rId88" Type="http://schemas.openxmlformats.org/officeDocument/2006/relationships/font" Target="fonts/font55.fntdata"/><Relationship Id="rId87" Type="http://schemas.openxmlformats.org/officeDocument/2006/relationships/font" Target="fonts/font54.fntdata"/><Relationship Id="rId86" Type="http://schemas.openxmlformats.org/officeDocument/2006/relationships/font" Target="fonts/font53.fntdata"/><Relationship Id="rId85" Type="http://schemas.openxmlformats.org/officeDocument/2006/relationships/font" Target="fonts/font52.fntdata"/><Relationship Id="rId84" Type="http://schemas.openxmlformats.org/officeDocument/2006/relationships/font" Target="fonts/font51.fntdata"/><Relationship Id="rId83" Type="http://schemas.openxmlformats.org/officeDocument/2006/relationships/font" Target="fonts/font50.fntdata"/><Relationship Id="rId82" Type="http://schemas.openxmlformats.org/officeDocument/2006/relationships/font" Target="fonts/font49.fntdata"/><Relationship Id="rId81" Type="http://schemas.openxmlformats.org/officeDocument/2006/relationships/font" Target="fonts/font48.fntdata"/><Relationship Id="rId80" Type="http://schemas.openxmlformats.org/officeDocument/2006/relationships/font" Target="fonts/font47.fntdata"/><Relationship Id="rId8" Type="http://schemas.openxmlformats.org/officeDocument/2006/relationships/slide" Target="slides/slide5.xml"/><Relationship Id="rId79" Type="http://schemas.openxmlformats.org/officeDocument/2006/relationships/font" Target="fonts/font46.fntdata"/><Relationship Id="rId78" Type="http://schemas.openxmlformats.org/officeDocument/2006/relationships/font" Target="fonts/font45.fntdata"/><Relationship Id="rId77" Type="http://schemas.openxmlformats.org/officeDocument/2006/relationships/font" Target="fonts/font44.fntdata"/><Relationship Id="rId76" Type="http://schemas.openxmlformats.org/officeDocument/2006/relationships/font" Target="fonts/font43.fntdata"/><Relationship Id="rId75" Type="http://schemas.openxmlformats.org/officeDocument/2006/relationships/font" Target="fonts/font42.fntdata"/><Relationship Id="rId74" Type="http://schemas.openxmlformats.org/officeDocument/2006/relationships/font" Target="fonts/font41.fntdata"/><Relationship Id="rId73" Type="http://schemas.openxmlformats.org/officeDocument/2006/relationships/font" Target="fonts/font40.fntdata"/><Relationship Id="rId72" Type="http://schemas.openxmlformats.org/officeDocument/2006/relationships/font" Target="fonts/font39.fntdata"/><Relationship Id="rId71" Type="http://schemas.openxmlformats.org/officeDocument/2006/relationships/font" Target="fonts/font38.fntdata"/><Relationship Id="rId70" Type="http://schemas.openxmlformats.org/officeDocument/2006/relationships/font" Target="fonts/font37.fntdata"/><Relationship Id="rId7" Type="http://schemas.openxmlformats.org/officeDocument/2006/relationships/slide" Target="slides/slide4.xml"/><Relationship Id="rId69" Type="http://schemas.openxmlformats.org/officeDocument/2006/relationships/font" Target="fonts/font36.fntdata"/><Relationship Id="rId68" Type="http://schemas.openxmlformats.org/officeDocument/2006/relationships/font" Target="fonts/font35.fntdata"/><Relationship Id="rId67" Type="http://schemas.openxmlformats.org/officeDocument/2006/relationships/font" Target="fonts/font34.fntdata"/><Relationship Id="rId66" Type="http://schemas.openxmlformats.org/officeDocument/2006/relationships/font" Target="fonts/font33.fntdata"/><Relationship Id="rId65" Type="http://schemas.openxmlformats.org/officeDocument/2006/relationships/font" Target="fonts/font32.fntdata"/><Relationship Id="rId64" Type="http://schemas.openxmlformats.org/officeDocument/2006/relationships/font" Target="fonts/font31.fntdata"/><Relationship Id="rId63" Type="http://schemas.openxmlformats.org/officeDocument/2006/relationships/font" Target="fonts/font30.fntdata"/><Relationship Id="rId62" Type="http://schemas.openxmlformats.org/officeDocument/2006/relationships/font" Target="fonts/font29.fntdata"/><Relationship Id="rId61" Type="http://schemas.openxmlformats.org/officeDocument/2006/relationships/font" Target="fonts/font28.fntdata"/><Relationship Id="rId60" Type="http://schemas.openxmlformats.org/officeDocument/2006/relationships/font" Target="fonts/font27.fntdata"/><Relationship Id="rId6" Type="http://schemas.openxmlformats.org/officeDocument/2006/relationships/slide" Target="slides/slide3.xml"/><Relationship Id="rId59" Type="http://schemas.openxmlformats.org/officeDocument/2006/relationships/font" Target="fonts/font26.fntdata"/><Relationship Id="rId58" Type="http://schemas.openxmlformats.org/officeDocument/2006/relationships/font" Target="fonts/font25.fntdata"/><Relationship Id="rId57" Type="http://schemas.openxmlformats.org/officeDocument/2006/relationships/font" Target="fonts/font24.fntdata"/><Relationship Id="rId56" Type="http://schemas.openxmlformats.org/officeDocument/2006/relationships/font" Target="fonts/font23.fntdata"/><Relationship Id="rId55" Type="http://schemas.openxmlformats.org/officeDocument/2006/relationships/font" Target="fonts/font22.fntdata"/><Relationship Id="rId54" Type="http://schemas.openxmlformats.org/officeDocument/2006/relationships/font" Target="fonts/font21.fntdata"/><Relationship Id="rId53" Type="http://schemas.openxmlformats.org/officeDocument/2006/relationships/font" Target="fonts/font20.fntdata"/><Relationship Id="rId52" Type="http://schemas.openxmlformats.org/officeDocument/2006/relationships/font" Target="fonts/font19.fntdata"/><Relationship Id="rId51" Type="http://schemas.openxmlformats.org/officeDocument/2006/relationships/font" Target="fonts/font18.fntdata"/><Relationship Id="rId50" Type="http://schemas.openxmlformats.org/officeDocument/2006/relationships/font" Target="fonts/font17.fntdata"/><Relationship Id="rId5" Type="http://schemas.openxmlformats.org/officeDocument/2006/relationships/slide" Target="slides/slide2.xml"/><Relationship Id="rId49" Type="http://schemas.openxmlformats.org/officeDocument/2006/relationships/font" Target="fonts/font16.fntdata"/><Relationship Id="rId48" Type="http://schemas.openxmlformats.org/officeDocument/2006/relationships/font" Target="fonts/font15.fntdata"/><Relationship Id="rId47" Type="http://schemas.openxmlformats.org/officeDocument/2006/relationships/font" Target="fonts/font14.fntdata"/><Relationship Id="rId46" Type="http://schemas.openxmlformats.org/officeDocument/2006/relationships/font" Target="fonts/font13.fntdata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3406" y="-297589"/>
            <a:ext cx="12149753" cy="11023026"/>
            <a:chOff x="0" y="0"/>
            <a:chExt cx="11887200" cy="107848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87200" cy="10784821"/>
            </a:xfrm>
            <a:custGeom>
              <a:avLst/>
              <a:gdLst/>
              <a:ahLst/>
              <a:cxnLst/>
              <a:rect l="l" t="t" r="r" b="b"/>
              <a:pathLst>
                <a:path w="11887200" h="10784821">
                  <a:moveTo>
                    <a:pt x="0" y="5392410"/>
                  </a:moveTo>
                  <a:cubicBezTo>
                    <a:pt x="0" y="2414256"/>
                    <a:pt x="2661031" y="0"/>
                    <a:pt x="5943600" y="0"/>
                  </a:cubicBezTo>
                  <a:cubicBezTo>
                    <a:pt x="9226169" y="0"/>
                    <a:pt x="11887200" y="2414256"/>
                    <a:pt x="11887200" y="5392410"/>
                  </a:cubicBezTo>
                  <a:cubicBezTo>
                    <a:pt x="11887200" y="8370565"/>
                    <a:pt x="9226169" y="10784821"/>
                    <a:pt x="5943600" y="10784821"/>
                  </a:cubicBezTo>
                  <a:cubicBezTo>
                    <a:pt x="2661031" y="10784821"/>
                    <a:pt x="0" y="8370564"/>
                    <a:pt x="0" y="5392410"/>
                  </a:cubicBezTo>
                  <a:close/>
                </a:path>
              </a:pathLst>
            </a:custGeom>
            <a:blipFill>
              <a:blip r:embed="rId1"/>
              <a:stretch>
                <a:fillRect l="-31023" r="-31023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29778" y="1127396"/>
            <a:ext cx="9411192" cy="6013170"/>
            <a:chOff x="0" y="0"/>
            <a:chExt cx="12548256" cy="80175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8257" cy="8017560"/>
            </a:xfrm>
            <a:custGeom>
              <a:avLst/>
              <a:gdLst/>
              <a:ahLst/>
              <a:cxnLst/>
              <a:rect l="l" t="t" r="r" b="b"/>
              <a:pathLst>
                <a:path w="12548257" h="8017560">
                  <a:moveTo>
                    <a:pt x="0" y="0"/>
                  </a:moveTo>
                  <a:lnTo>
                    <a:pt x="12548257" y="0"/>
                  </a:lnTo>
                  <a:lnTo>
                    <a:pt x="12548257" y="8017560"/>
                  </a:lnTo>
                  <a:lnTo>
                    <a:pt x="0" y="8017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82" r="-60315" b="3400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2548256" cy="8027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60"/>
                </a:lnSpc>
              </a:pPr>
              <a:r>
                <a:rPr lang="en-US" sz="6800" b="1">
                  <a:solidFill>
                    <a:srgbClr val="FFFFFF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Hospital Readmission Analysis</a:t>
              </a:r>
              <a:endParaRPr lang="en-US" sz="6800" b="1">
                <a:solidFill>
                  <a:srgbClr val="FFFFFF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8877" y="5213924"/>
            <a:ext cx="9092994" cy="1679626"/>
            <a:chOff x="0" y="0"/>
            <a:chExt cx="12123992" cy="22395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23992" cy="2239502"/>
            </a:xfrm>
            <a:custGeom>
              <a:avLst/>
              <a:gdLst/>
              <a:ahLst/>
              <a:cxnLst/>
              <a:rect l="l" t="t" r="r" b="b"/>
              <a:pathLst>
                <a:path w="12123992" h="2239502">
                  <a:moveTo>
                    <a:pt x="0" y="0"/>
                  </a:moveTo>
                  <a:lnTo>
                    <a:pt x="12123992" y="0"/>
                  </a:lnTo>
                  <a:lnTo>
                    <a:pt x="12123992" y="2239502"/>
                  </a:lnTo>
                  <a:lnTo>
                    <a:pt x="0" y="22395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353" r="-47824" b="-8451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2123992" cy="23061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20"/>
                </a:lnSpc>
              </a:pPr>
              <a:r>
                <a:rPr lang="en-US" sz="3350">
                  <a:solidFill>
                    <a:srgbClr val="FFFFFF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An exploratory, statistical, and predictive modeling study of patient and hospitalization factors behind readmission</a:t>
              </a:r>
              <a:endParaRPr lang="en-US" sz="33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 rot="23700">
            <a:off x="1357265" y="8700135"/>
            <a:ext cx="4143470" cy="0"/>
          </a:xfrm>
          <a:prstGeom prst="line">
            <a:avLst/>
          </a:prstGeom>
          <a:ln w="19050" cap="rnd">
            <a:solidFill>
              <a:srgbClr val="2E5A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629778" y="546852"/>
            <a:ext cx="2183181" cy="2016630"/>
          </a:xfrm>
          <a:custGeom>
            <a:avLst/>
            <a:gdLst/>
            <a:ahLst/>
            <a:cxnLst/>
            <a:rect l="l" t="t" r="r" b="b"/>
            <a:pathLst>
              <a:path w="2183181" h="2016630">
                <a:moveTo>
                  <a:pt x="0" y="0"/>
                </a:moveTo>
                <a:lnTo>
                  <a:pt x="2183182" y="0"/>
                </a:lnTo>
                <a:lnTo>
                  <a:pt x="2183182" y="2016629"/>
                </a:lnTo>
                <a:lnTo>
                  <a:pt x="0" y="2016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124" t="-24825" r="-19109" b="-24825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812960" y="546852"/>
            <a:ext cx="7470447" cy="2016630"/>
            <a:chOff x="0" y="0"/>
            <a:chExt cx="1967484" cy="5311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67484" cy="531114"/>
            </a:xfrm>
            <a:custGeom>
              <a:avLst/>
              <a:gdLst/>
              <a:ahLst/>
              <a:cxnLst/>
              <a:rect l="l" t="t" r="r" b="b"/>
              <a:pathLst>
                <a:path w="1967484" h="531114">
                  <a:moveTo>
                    <a:pt x="1967484" y="0"/>
                  </a:moveTo>
                  <a:lnTo>
                    <a:pt x="1967484" y="531114"/>
                  </a:lnTo>
                  <a:lnTo>
                    <a:pt x="0" y="531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67484" cy="569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17520" y="1188309"/>
            <a:ext cx="8095667" cy="733715"/>
            <a:chOff x="0" y="0"/>
            <a:chExt cx="13220024" cy="11981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20024" cy="1198138"/>
            </a:xfrm>
            <a:custGeom>
              <a:avLst/>
              <a:gdLst/>
              <a:ahLst/>
              <a:cxnLst/>
              <a:rect l="l" t="t" r="r" b="b"/>
              <a:pathLst>
                <a:path w="13220024" h="1198138">
                  <a:moveTo>
                    <a:pt x="0" y="0"/>
                  </a:moveTo>
                  <a:lnTo>
                    <a:pt x="13220024" y="0"/>
                  </a:lnTo>
                  <a:lnTo>
                    <a:pt x="13220024" y="1198138"/>
                  </a:lnTo>
                  <a:lnTo>
                    <a:pt x="0" y="11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0702" r="-38335" b="-22412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3220024" cy="11981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20"/>
                </a:lnSpc>
              </a:pPr>
              <a:r>
                <a:rPr lang="en-US" sz="3350" spc="515">
                  <a:solidFill>
                    <a:srgbClr val="FFFFFF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DATA ANALYSIS DIPLOMA </a:t>
              </a:r>
              <a:endParaRPr lang="en-US" sz="3350" spc="515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30348" y="7201718"/>
            <a:ext cx="8610052" cy="1493660"/>
            <a:chOff x="0" y="0"/>
            <a:chExt cx="1771616" cy="3073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1616" cy="307337"/>
            </a:xfrm>
            <a:custGeom>
              <a:avLst/>
              <a:gdLst/>
              <a:ahLst/>
              <a:cxnLst/>
              <a:rect l="l" t="t" r="r" b="b"/>
              <a:pathLst>
                <a:path w="1771616" h="307337">
                  <a:moveTo>
                    <a:pt x="0" y="0"/>
                  </a:moveTo>
                  <a:lnTo>
                    <a:pt x="1771616" y="0"/>
                  </a:lnTo>
                  <a:lnTo>
                    <a:pt x="1771616" y="307337"/>
                  </a:lnTo>
                  <a:lnTo>
                    <a:pt x="0" y="307337"/>
                  </a:lnTo>
                  <a:close/>
                </a:path>
              </a:pathLst>
            </a:custGeom>
            <a:solidFill>
              <a:srgbClr val="2F6B8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421"/>
              <a:ext cx="1771616" cy="305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20"/>
                </a:lnSpc>
              </a:pPr>
              <a:r>
                <a:rPr lang="en-US" sz="3350" b="1" dirty="0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Presented by :  </a:t>
              </a:r>
              <a:r>
                <a:rPr lang="en-US" sz="3350" b="1" dirty="0" err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Hadeer</a:t>
              </a:r>
              <a:r>
                <a:rPr lang="en-US" sz="3350" b="1" dirty="0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 hussen </a:t>
              </a:r>
              <a:r>
                <a:rPr lang="en-US" sz="3350" b="1" dirty="0" err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Atia</a:t>
              </a:r>
              <a:endParaRPr lang="en-US" sz="335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1"/>
          <p:cNvSpPr/>
          <p:nvPr/>
        </p:nvSpPr>
        <p:spPr>
          <a:xfrm>
            <a:off x="2855553" y="266037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5" name="Text 2"/>
          <p:cNvSpPr/>
          <p:nvPr/>
        </p:nvSpPr>
        <p:spPr>
          <a:xfrm>
            <a:off x="3478530" y="806332"/>
            <a:ext cx="113309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dirty="0">
                <a:solidFill>
                  <a:srgbClr val="008991"/>
                </a:solidFill>
                <a:latin typeface="Calibri (MS) Bold" panose="020F0702030404030204" charset="0"/>
                <a:ea typeface="Cambria" panose="02040503050406030204" pitchFamily="34" charset="-122"/>
                <a:cs typeface="Calibri (MS) Bold" panose="020F0702030404030204" charset="0"/>
              </a:rPr>
              <a:t>Abstract</a:t>
            </a:r>
            <a:endParaRPr lang="en-US" sz="5400" b="1" dirty="0">
              <a:solidFill>
                <a:srgbClr val="008991"/>
              </a:solidFill>
              <a:latin typeface="Calibri (MS) Bold" panose="020F0702030404030204" charset="0"/>
              <a:ea typeface="Cambria" panose="02040503050406030204" pitchFamily="34" charset="-122"/>
              <a:cs typeface="Calibri (MS) Bold" panose="020F0702030404030204" charset="0"/>
            </a:endParaRPr>
          </a:p>
          <a:p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Question This Project Answers</a:t>
            </a:r>
            <a:endParaRPr lang="en-US" sz="5400" dirty="0">
              <a:solidFill>
                <a:srgbClr val="2B5D7C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960120" y="2400300"/>
            <a:ext cx="9875520" cy="34975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67843" y="2743200"/>
            <a:ext cx="4528653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kern="0" spc="225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/ QUESTION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05890" y="3497580"/>
            <a:ext cx="8983980" cy="1783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a patient's demographics and hospitalization details (age, diagnosis, procedures, length of stay, comorbidity burden, and discharge destination) predict whether they will be readmitted?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440180" y="5006340"/>
            <a:ext cx="89839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960120" y="6240780"/>
            <a:ext cx="9875520" cy="3470148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grpSp>
        <p:nvGrpSpPr>
          <p:cNvPr id="27" name="Group 26"/>
          <p:cNvGrpSpPr/>
          <p:nvPr/>
        </p:nvGrpSpPr>
        <p:grpSpPr>
          <a:xfrm>
            <a:off x="2411596" y="6419051"/>
            <a:ext cx="10851756" cy="617220"/>
            <a:chOff x="2403629" y="6419051"/>
            <a:chExt cx="10754348" cy="617220"/>
          </a:xfrm>
        </p:grpSpPr>
        <p:sp>
          <p:nvSpPr>
            <p:cNvPr id="11" name="Text 8"/>
            <p:cNvSpPr/>
            <p:nvPr/>
          </p:nvSpPr>
          <p:spPr>
            <a:xfrm>
              <a:off x="2403629" y="6530522"/>
              <a:ext cx="2227663" cy="43891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3200" b="1" kern="0" spc="225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VERDICT:</a:t>
              </a:r>
              <a:endParaRPr lang="en-US" sz="16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4242577" y="6419051"/>
              <a:ext cx="8915400" cy="6172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320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Hypothesis not supported.</a:t>
              </a:r>
              <a:endParaRPr lang="en-US" sz="32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1432310" y="7502652"/>
            <a:ext cx="891540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7F9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bivariate test came back non-significant, and out-of-sample model performance (AUC ≈ 0.47) sits at chance level, none of the measured features carry real predictive signal.</a:t>
            </a:r>
            <a:endParaRPr lang="en-US" sz="3200" dirty="0">
              <a:solidFill>
                <a:srgbClr val="F7F9FC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179492" y="2616591"/>
            <a:ext cx="6172200" cy="6858000"/>
            <a:chOff x="11178540" y="2400300"/>
            <a:chExt cx="6172200" cy="6858000"/>
          </a:xfrm>
        </p:grpSpPr>
        <p:sp>
          <p:nvSpPr>
            <p:cNvPr id="14" name="Shape 11"/>
            <p:cNvSpPr/>
            <p:nvPr/>
          </p:nvSpPr>
          <p:spPr>
            <a:xfrm>
              <a:off x="11178540" y="2400300"/>
              <a:ext cx="6172200" cy="1591056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30" name="Shape 7"/>
            <p:cNvSpPr/>
            <p:nvPr/>
          </p:nvSpPr>
          <p:spPr>
            <a:xfrm>
              <a:off x="11377562" y="2525534"/>
              <a:ext cx="1930608" cy="1314487"/>
            </a:xfrm>
            <a:prstGeom prst="roundRect">
              <a:avLst>
                <a:gd name="adj" fmla="val 4091"/>
              </a:avLst>
            </a:prstGeom>
            <a:solidFill>
              <a:srgbClr val="1E3A5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15" name="Text 12"/>
            <p:cNvSpPr/>
            <p:nvPr/>
          </p:nvSpPr>
          <p:spPr>
            <a:xfrm>
              <a:off x="11518372" y="2792321"/>
              <a:ext cx="1744980" cy="8503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48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4,996</a:t>
              </a:r>
              <a:endParaRPr lang="en-US" sz="45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13595689" y="2955798"/>
              <a:ext cx="3192780" cy="4800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Patients Analyzed</a:t>
              </a:r>
              <a:endParaRPr lang="en-US" sz="3200" b="1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11178540" y="4155948"/>
              <a:ext cx="6172200" cy="1591056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19" name="Text 16"/>
            <p:cNvSpPr/>
            <p:nvPr/>
          </p:nvSpPr>
          <p:spPr>
            <a:xfrm>
              <a:off x="13318538" y="4711446"/>
              <a:ext cx="3805448" cy="4800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Features Per Patient</a:t>
              </a:r>
              <a:endParaRPr lang="en-US" sz="3200" b="1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11178540" y="5911596"/>
              <a:ext cx="6172200" cy="1591056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29" name="Shape 7"/>
            <p:cNvSpPr/>
            <p:nvPr/>
          </p:nvSpPr>
          <p:spPr>
            <a:xfrm>
              <a:off x="11400505" y="6090391"/>
              <a:ext cx="1930608" cy="1314487"/>
            </a:xfrm>
            <a:prstGeom prst="roundRect">
              <a:avLst>
                <a:gd name="adj" fmla="val 4091"/>
              </a:avLst>
            </a:prstGeom>
            <a:solidFill>
              <a:srgbClr val="1E3A5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21" name="Text 18"/>
            <p:cNvSpPr/>
            <p:nvPr/>
          </p:nvSpPr>
          <p:spPr>
            <a:xfrm>
              <a:off x="11394176" y="6281928"/>
              <a:ext cx="1897380" cy="8503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4500" b="1" dirty="0">
                  <a:solidFill>
                    <a:schemeClr val="bg1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18.8%</a:t>
              </a:r>
              <a:endParaRPr lang="en-US" sz="45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13291556" y="6507605"/>
              <a:ext cx="4030980" cy="4800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Baseline Readmission Rate</a:t>
              </a:r>
              <a:endParaRPr lang="en-US" sz="3200" b="1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11178540" y="7667244"/>
              <a:ext cx="6172200" cy="1591056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28" name="Shape 7"/>
            <p:cNvSpPr/>
            <p:nvPr/>
          </p:nvSpPr>
          <p:spPr>
            <a:xfrm>
              <a:off x="11400505" y="7839818"/>
              <a:ext cx="1930608" cy="1314487"/>
            </a:xfrm>
            <a:prstGeom prst="roundRect">
              <a:avLst>
                <a:gd name="adj" fmla="val 4091"/>
              </a:avLst>
            </a:prstGeom>
            <a:solidFill>
              <a:srgbClr val="1E3A5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11518372" y="8034558"/>
              <a:ext cx="1744980" cy="8503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4500" b="1" dirty="0">
                  <a:solidFill>
                    <a:schemeClr val="bg1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~0.47</a:t>
              </a:r>
              <a:endParaRPr lang="en-US" sz="45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13634456" y="8257032"/>
              <a:ext cx="3345180" cy="4800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3200" b="1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Best Held-out AUC </a:t>
              </a:r>
              <a:endParaRPr lang="en-US" sz="32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algn="ctr"/>
              <a:r>
                <a:rPr lang="en-US" sz="3200" b="1" dirty="0">
                  <a:solidFill>
                    <a:srgbClr val="64748B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(Chance = 0.50)</a:t>
              </a:r>
              <a:endParaRPr lang="en-US" sz="3200" b="1" dirty="0"/>
            </a:p>
          </p:txBody>
        </p:sp>
        <p:sp>
          <p:nvSpPr>
            <p:cNvPr id="31" name="Shape 7"/>
            <p:cNvSpPr/>
            <p:nvPr/>
          </p:nvSpPr>
          <p:spPr>
            <a:xfrm>
              <a:off x="11425558" y="4300921"/>
              <a:ext cx="1930608" cy="1314487"/>
            </a:xfrm>
            <a:prstGeom prst="roundRect">
              <a:avLst>
                <a:gd name="adj" fmla="val 4091"/>
              </a:avLst>
            </a:prstGeom>
            <a:solidFill>
              <a:srgbClr val="1E3A5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18" name="Text 15"/>
            <p:cNvSpPr/>
            <p:nvPr/>
          </p:nvSpPr>
          <p:spPr>
            <a:xfrm>
              <a:off x="12089872" y="4532969"/>
              <a:ext cx="601980" cy="8503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sz="4500" b="1" dirty="0">
                  <a:solidFill>
                    <a:schemeClr val="bg1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8</a:t>
              </a:r>
              <a:endParaRPr lang="en-US" sz="45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1"/>
          <p:cNvSpPr/>
          <p:nvPr/>
        </p:nvSpPr>
        <p:spPr>
          <a:xfrm>
            <a:off x="2278380" y="342504"/>
            <a:ext cx="14097000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5" name="Text 2"/>
          <p:cNvSpPr/>
          <p:nvPr/>
        </p:nvSpPr>
        <p:spPr>
          <a:xfrm>
            <a:off x="2419350" y="919722"/>
            <a:ext cx="135407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spc="299" dirty="0">
                <a:solidFill>
                  <a:srgbClr val="008991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INTRODUCTION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Readmission, and How We Studied It</a:t>
            </a:r>
            <a:endParaRPr lang="en-US" sz="5400" dirty="0">
              <a:solidFill>
                <a:srgbClr val="2B5D7C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9669780" y="2400300"/>
            <a:ext cx="768096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0012680" y="2729484"/>
            <a:ext cx="960120" cy="960120"/>
          </a:xfrm>
          <a:prstGeom prst="ellipse">
            <a:avLst/>
          </a:prstGeom>
          <a:solidFill>
            <a:srgbClr val="2E5A88"/>
          </a:solidFill>
        </p:spPr>
      </p:sp>
      <p:sp>
        <p:nvSpPr>
          <p:cNvPr id="10" name="Text 7"/>
          <p:cNvSpPr/>
          <p:nvPr/>
        </p:nvSpPr>
        <p:spPr>
          <a:xfrm>
            <a:off x="10012680" y="2729484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1315700" y="2619756"/>
            <a:ext cx="576072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&amp; explore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1315700" y="3140214"/>
            <a:ext cx="58293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Structure, distributions, and data quality checks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9669780" y="4238244"/>
            <a:ext cx="768096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012680" y="4567428"/>
            <a:ext cx="960120" cy="960120"/>
          </a:xfrm>
          <a:prstGeom prst="ellipse">
            <a:avLst/>
          </a:prstGeom>
          <a:solidFill>
            <a:srgbClr val="008991"/>
          </a:solidFill>
        </p:spPr>
      </p:sp>
      <p:sp>
        <p:nvSpPr>
          <p:cNvPr id="15" name="Text 12"/>
          <p:cNvSpPr/>
          <p:nvPr/>
        </p:nvSpPr>
        <p:spPr>
          <a:xfrm>
            <a:off x="10012680" y="4567428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1315700" y="4457700"/>
            <a:ext cx="576072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relationships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1315700" y="5006341"/>
            <a:ext cx="58293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hypothesis tests, feature by feature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9669780" y="6076188"/>
            <a:ext cx="768096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012680" y="6405372"/>
            <a:ext cx="960120" cy="960120"/>
          </a:xfrm>
          <a:prstGeom prst="ellipse">
            <a:avLst/>
          </a:prstGeom>
          <a:solidFill>
            <a:srgbClr val="2E5A88"/>
          </a:solidFill>
        </p:spPr>
      </p:sp>
      <p:sp>
        <p:nvSpPr>
          <p:cNvPr id="20" name="Text 17"/>
          <p:cNvSpPr/>
          <p:nvPr/>
        </p:nvSpPr>
        <p:spPr>
          <a:xfrm>
            <a:off x="10012680" y="6405372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1315700" y="6295644"/>
            <a:ext cx="576072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&amp; predict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11315700" y="6816852"/>
            <a:ext cx="58293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and random forest classifiers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9669780" y="7914132"/>
            <a:ext cx="768096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012680" y="8243316"/>
            <a:ext cx="960120" cy="960120"/>
          </a:xfrm>
          <a:prstGeom prst="ellipse">
            <a:avLst/>
          </a:prstGeom>
          <a:solidFill>
            <a:srgbClr val="008991"/>
          </a:solidFill>
        </p:spPr>
      </p:sp>
      <p:sp>
        <p:nvSpPr>
          <p:cNvPr id="25" name="Text 22"/>
          <p:cNvSpPr/>
          <p:nvPr/>
        </p:nvSpPr>
        <p:spPr>
          <a:xfrm>
            <a:off x="10012680" y="8243316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11315700" y="8133588"/>
            <a:ext cx="576072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patients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11315700" y="8681478"/>
            <a:ext cx="58293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+ K-Means clustering as an alternate lens</a:t>
            </a:r>
            <a:endParaRPr lang="en-US" sz="2800" dirty="0"/>
          </a:p>
        </p:txBody>
      </p:sp>
      <p:sp>
        <p:nvSpPr>
          <p:cNvPr id="29" name="Shape 3"/>
          <p:cNvSpPr/>
          <p:nvPr/>
        </p:nvSpPr>
        <p:spPr>
          <a:xfrm>
            <a:off x="685800" y="2400300"/>
            <a:ext cx="8641080" cy="71323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" y="4526280"/>
            <a:ext cx="8229600" cy="2880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40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Unplanned hospital readmissions are one of the most closely watched quality and cost metrics in healthcare, they signal whether a patient's condition, treatment, and discharge plan actually held. Identifying which factors drive readmission is the first step toward reducing it.</a:t>
            </a:r>
            <a:endParaRPr lang="en-US" sz="4000" dirty="0">
              <a:solidFill>
                <a:srgbClr val="2B5D7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1"/>
          <p:cNvSpPr/>
          <p:nvPr/>
        </p:nvSpPr>
        <p:spPr>
          <a:xfrm>
            <a:off x="2855553" y="405015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18" name="Shape 3"/>
          <p:cNvSpPr/>
          <p:nvPr/>
        </p:nvSpPr>
        <p:spPr>
          <a:xfrm>
            <a:off x="1005842" y="2434827"/>
            <a:ext cx="16322040" cy="1293402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735830" y="978933"/>
            <a:ext cx="88163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spc="299" dirty="0">
                <a:solidFill>
                  <a:srgbClr val="008991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INITIAL HYPOTHESIS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Expected Going In</a:t>
            </a:r>
            <a:endParaRPr lang="en-US" sz="5400" dirty="0">
              <a:solidFill>
                <a:srgbClr val="2B5D7C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211582" y="2746248"/>
            <a:ext cx="15910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testing, the working expectation was that clinical burden would show up in the readmission rate, formalized as a null and alternative hypothesis.</a:t>
            </a:r>
            <a:endParaRPr lang="en-US" sz="3600" b="1" dirty="0"/>
          </a:p>
        </p:txBody>
      </p:sp>
      <p:sp>
        <p:nvSpPr>
          <p:cNvPr id="7" name="Shape 4"/>
          <p:cNvSpPr/>
          <p:nvPr/>
        </p:nvSpPr>
        <p:spPr>
          <a:xfrm>
            <a:off x="1005842" y="3912108"/>
            <a:ext cx="7955280" cy="569214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2" y="3890247"/>
            <a:ext cx="7955280" cy="1165860"/>
          </a:xfrm>
          <a:prstGeom prst="roundRect">
            <a:avLst>
              <a:gd name="adj" fmla="val 10588"/>
            </a:avLst>
          </a:prstGeom>
          <a:solidFill>
            <a:srgbClr val="2E5A88"/>
          </a:solidFill>
        </p:spPr>
      </p:sp>
      <p:sp>
        <p:nvSpPr>
          <p:cNvPr id="10" name="Text 7"/>
          <p:cNvSpPr/>
          <p:nvPr/>
        </p:nvSpPr>
        <p:spPr>
          <a:xfrm>
            <a:off x="1417322" y="3890247"/>
            <a:ext cx="7132320" cy="11658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H₀ — NULL HYPOTHESIS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417322" y="5330427"/>
            <a:ext cx="7132320" cy="3977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association between </a:t>
            </a:r>
            <a:endParaRPr lang="en-US" sz="3200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>
              <a:lnSpc>
                <a:spcPct val="130000"/>
              </a:lnSpc>
            </a:pPr>
            <a:r>
              <a:rPr lang="en-US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/ hospitalization features and readmission. Age, gender, diagnosis, procedures, length of stay, comorbidity score, and discharge destination are all independent of the outcome.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9372602" y="3890247"/>
            <a:ext cx="7955280" cy="569214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372602" y="3890247"/>
            <a:ext cx="7955280" cy="1165860"/>
          </a:xfrm>
          <a:prstGeom prst="rect">
            <a:avLst/>
          </a:prstGeom>
          <a:solidFill>
            <a:srgbClr val="00899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784082" y="3890247"/>
            <a:ext cx="7132320" cy="11658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H₁ — ALTERNATIVE HYPOTHESIS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784082" y="5330427"/>
            <a:ext cx="7132320" cy="3977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 age, more procedures, longer hospital stays, and higher comorbidity scores raise readmission risk, and this risk also varies by diagnosis and discharge destination.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268730" y="9634186"/>
            <a:ext cx="157505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using: Shapiro–Wilk · t-tests · Chi-square · Logistic Regression · Random Forest</a:t>
            </a:r>
            <a:endParaRPr lang="en-US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1"/>
          <p:cNvSpPr/>
          <p:nvPr/>
        </p:nvSpPr>
        <p:spPr>
          <a:xfrm>
            <a:off x="2855553" y="122525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5" name="Text 2"/>
          <p:cNvSpPr/>
          <p:nvPr/>
        </p:nvSpPr>
        <p:spPr>
          <a:xfrm>
            <a:off x="4697730" y="696443"/>
            <a:ext cx="889254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spc="299" dirty="0">
                <a:solidFill>
                  <a:srgbClr val="008991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THE DATASET</a:t>
            </a:r>
            <a:endParaRPr lang="en-US" sz="5400" b="1" dirty="0">
              <a:solidFill>
                <a:srgbClr val="162B47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4,996 Patients, 8 Features</a:t>
            </a:r>
            <a:endParaRPr lang="en-US" sz="5400" dirty="0">
              <a:solidFill>
                <a:srgbClr val="2B5D7C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960120" y="2441448"/>
            <a:ext cx="3813048" cy="14401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07008" y="2551176"/>
            <a:ext cx="3291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2E5A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4,996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1207008" y="3264408"/>
            <a:ext cx="34290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(patients)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978908" y="2441448"/>
            <a:ext cx="3813048" cy="14401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25796" y="2551176"/>
            <a:ext cx="3291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2E5A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225796" y="3264408"/>
            <a:ext cx="34290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8997696" y="2441448"/>
            <a:ext cx="3813048" cy="14401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44584" y="2551176"/>
            <a:ext cx="3291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2E5A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312.6 KB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9244584" y="3264408"/>
            <a:ext cx="34290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in-memory size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13016484" y="2441448"/>
            <a:ext cx="3813048" cy="14401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3263372" y="2551176"/>
            <a:ext cx="3291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2E5A8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13263372" y="3264408"/>
            <a:ext cx="342900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960120" y="4183380"/>
          <a:ext cx="16322040" cy="5696712"/>
        </p:xfrm>
        <a:graphic>
          <a:graphicData uri="http://schemas.openxmlformats.org/drawingml/2006/table">
            <a:tbl>
              <a:tblPr/>
              <a:tblGrid>
                <a:gridCol w="2880360"/>
                <a:gridCol w="2331720"/>
                <a:gridCol w="11109960"/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Column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Meaning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age, 18–89 years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gender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Male / Female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primary_diagnosis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Admitting diagnosis, 5 categories (Kidney Disease, Diabetes, COPD, Hypertension, Heart Disease)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num_procedures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Number of procedures performed during the stay, 0–9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days_in_hospital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Length of hospital stay in days, 1–14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comorbidity_score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Composite score of coexisting conditions, 0–4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discharge_to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Discharge destination: Home, Home Health Care, Rehab Facility, Skilled Nursing Facility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readmitted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Binary target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= readmitted, 0 = not readmitted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21"/>
          <p:cNvSpPr/>
          <p:nvPr/>
        </p:nvSpPr>
        <p:spPr>
          <a:xfrm>
            <a:off x="2855553" y="420360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5" name="Text 2"/>
          <p:cNvSpPr/>
          <p:nvPr/>
        </p:nvSpPr>
        <p:spPr>
          <a:xfrm>
            <a:off x="1851660" y="987552"/>
            <a:ext cx="1440180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PREPARATION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&amp; Preprocessing</a:t>
            </a:r>
            <a:endParaRPr lang="en-US" sz="5400" dirty="0">
              <a:solidFill>
                <a:srgbClr val="2B5D7C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960120" y="2468880"/>
            <a:ext cx="809244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125980" y="2606040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rows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2125980" y="3044952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exact duplicates found → removed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125980" y="3483864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E5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5,000 → 4,996 rows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960120" y="4279392"/>
            <a:ext cx="809244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2125980" y="4416552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2125980" y="4855464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all 8 columns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2125980" y="5294376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E5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missing anywhere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960120" y="6089904"/>
            <a:ext cx="809244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2125980" y="6227064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 scan</a:t>
            </a:r>
            <a:endParaRPr lang="en-US" sz="3200" dirty="0"/>
          </a:p>
        </p:txBody>
      </p:sp>
      <p:sp>
        <p:nvSpPr>
          <p:cNvPr id="22" name="Text 16"/>
          <p:cNvSpPr/>
          <p:nvPr/>
        </p:nvSpPr>
        <p:spPr>
          <a:xfrm>
            <a:off x="2125980" y="6665976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 method on the 4 numeric columns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2125980" y="7104888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E5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extreme outliers requiring removal</a:t>
            </a:r>
            <a:endParaRPr lang="en-US" sz="2800" dirty="0"/>
          </a:p>
        </p:txBody>
      </p:sp>
      <p:sp>
        <p:nvSpPr>
          <p:cNvPr id="24" name="Shape 18"/>
          <p:cNvSpPr/>
          <p:nvPr/>
        </p:nvSpPr>
        <p:spPr>
          <a:xfrm>
            <a:off x="960120" y="7900416"/>
            <a:ext cx="8092440" cy="1618488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29" y="3109941"/>
            <a:ext cx="534924" cy="40814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29" y="4855464"/>
            <a:ext cx="534924" cy="40814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29" y="6652260"/>
            <a:ext cx="534924" cy="408145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29" y="8476488"/>
            <a:ext cx="534924" cy="40814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25980" y="8037576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6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Encoding</a:t>
            </a:r>
            <a:endParaRPr lang="en-US" sz="3200" dirty="0"/>
          </a:p>
        </p:txBody>
      </p:sp>
      <p:sp>
        <p:nvSpPr>
          <p:cNvPr id="28" name="Text 21"/>
          <p:cNvSpPr/>
          <p:nvPr/>
        </p:nvSpPr>
        <p:spPr>
          <a:xfrm>
            <a:off x="2125980" y="8476488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One-hot encoding for modeling stage</a:t>
            </a:r>
            <a:endParaRPr lang="en-US" sz="2800" dirty="0"/>
          </a:p>
        </p:txBody>
      </p:sp>
      <p:sp>
        <p:nvSpPr>
          <p:cNvPr id="29" name="Text 22"/>
          <p:cNvSpPr/>
          <p:nvPr/>
        </p:nvSpPr>
        <p:spPr>
          <a:xfrm>
            <a:off x="2125980" y="8915400"/>
            <a:ext cx="6720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E5A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gender, primary_diagnosis, discharge_to</a:t>
            </a:r>
            <a:endParaRPr lang="en-US" sz="2800" dirty="0"/>
          </a:p>
        </p:txBody>
      </p:sp>
      <p:sp>
        <p:nvSpPr>
          <p:cNvPr id="30" name="Text 23"/>
          <p:cNvSpPr/>
          <p:nvPr/>
        </p:nvSpPr>
        <p:spPr>
          <a:xfrm>
            <a:off x="9464040" y="24688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kern="0" spc="15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OF THE CLEANED DATA </a:t>
            </a:r>
            <a:r>
              <a:rPr lang="en-US" sz="2800" b="1" kern="0" spc="15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(df.head())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9464040" y="2948940"/>
          <a:ext cx="7818120" cy="4663440"/>
        </p:xfrm>
        <a:graphic>
          <a:graphicData uri="http://schemas.openxmlformats.org/drawingml/2006/table">
            <a:tbl>
              <a:tblPr/>
              <a:tblGrid>
                <a:gridCol w="977265"/>
                <a:gridCol w="977265"/>
                <a:gridCol w="977265"/>
                <a:gridCol w="977265"/>
                <a:gridCol w="977265"/>
                <a:gridCol w="977265"/>
                <a:gridCol w="977265"/>
                <a:gridCol w="977265"/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gender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diagnosis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proc.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days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comorb.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discharge_to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readm.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5A8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69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Heart Disease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Home Health Care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Female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COPD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Rehab Facility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Diabetes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Home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COPD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Skilled Nursing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Diabetes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Rehab Facility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4"/>
          <p:cNvSpPr/>
          <p:nvPr/>
        </p:nvSpPr>
        <p:spPr>
          <a:xfrm>
            <a:off x="9464040" y="7914132"/>
            <a:ext cx="7818120" cy="1618488"/>
          </a:xfrm>
          <a:prstGeom prst="roundRect">
            <a:avLst>
              <a:gd name="adj" fmla="val 4286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9875520" y="6926580"/>
            <a:ext cx="6995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9875520" y="7735824"/>
            <a:ext cx="69951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clean, fully-populated dataset with no duplicates or missing values means any weak findings later can't be blamed on data quality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21"/>
          <p:cNvSpPr/>
          <p:nvPr/>
        </p:nvSpPr>
        <p:spPr>
          <a:xfrm>
            <a:off x="2855553" y="402980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6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(Exploratory Data Analysis)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990600" y="2857500"/>
            <a:ext cx="4590620" cy="2972500"/>
            <a:chOff x="1105030" y="3494722"/>
            <a:chExt cx="5212080" cy="1828800"/>
          </a:xfrm>
        </p:grpSpPr>
        <p:sp>
          <p:nvSpPr>
            <p:cNvPr id="89" name="Shape 3"/>
            <p:cNvSpPr/>
            <p:nvPr/>
          </p:nvSpPr>
          <p:spPr>
            <a:xfrm>
              <a:off x="1105030" y="3494722"/>
              <a:ext cx="5212080" cy="1828800"/>
            </a:xfrm>
            <a:prstGeom prst="roundRect">
              <a:avLst>
                <a:gd name="adj" fmla="val 5000"/>
              </a:avLst>
            </a:prstGeom>
            <a:solidFill>
              <a:srgbClr val="E3F4F2"/>
            </a:solidFill>
            <a:ln w="28575">
              <a:solidFill>
                <a:schemeClr val="tx1"/>
              </a:solidFill>
              <a:prstDash val="solid"/>
            </a:ln>
          </p:spPr>
        </p:sp>
        <p:sp>
          <p:nvSpPr>
            <p:cNvPr id="90" name="Shape 3"/>
            <p:cNvSpPr/>
            <p:nvPr/>
          </p:nvSpPr>
          <p:spPr>
            <a:xfrm>
              <a:off x="1322806" y="3653055"/>
              <a:ext cx="4776528" cy="14875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28575">
              <a:noFill/>
              <a:prstDash val="solid"/>
            </a:ln>
          </p:spPr>
        </p:sp>
        <p:sp>
          <p:nvSpPr>
            <p:cNvPr id="91" name="Text 4"/>
            <p:cNvSpPr/>
            <p:nvPr/>
          </p:nvSpPr>
          <p:spPr>
            <a:xfrm>
              <a:off x="1105030" y="3494722"/>
              <a:ext cx="5212080" cy="18288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29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Data Overview</a:t>
              </a:r>
              <a:endParaRPr lang="en-US" sz="3600" dirty="0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90600" y="6511685"/>
            <a:ext cx="4595624" cy="2972500"/>
            <a:chOff x="1099349" y="5689282"/>
            <a:chExt cx="5217761" cy="1828800"/>
          </a:xfrm>
        </p:grpSpPr>
        <p:sp>
          <p:nvSpPr>
            <p:cNvPr id="94" name="Shape 9"/>
            <p:cNvSpPr/>
            <p:nvPr/>
          </p:nvSpPr>
          <p:spPr>
            <a:xfrm>
              <a:off x="1105030" y="5689282"/>
              <a:ext cx="5212080" cy="1828800"/>
            </a:xfrm>
            <a:prstGeom prst="roundRect">
              <a:avLst>
                <a:gd name="adj" fmla="val 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solid"/>
            </a:ln>
          </p:spPr>
        </p:sp>
        <p:sp>
          <p:nvSpPr>
            <p:cNvPr id="95" name="Shape 3"/>
            <p:cNvSpPr/>
            <p:nvPr/>
          </p:nvSpPr>
          <p:spPr>
            <a:xfrm>
              <a:off x="1289122" y="5859888"/>
              <a:ext cx="4776528" cy="14875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28575">
              <a:noFill/>
              <a:prstDash val="solid"/>
            </a:ln>
          </p:spPr>
        </p:sp>
        <p:sp>
          <p:nvSpPr>
            <p:cNvPr id="97" name="Text 10"/>
            <p:cNvSpPr/>
            <p:nvPr/>
          </p:nvSpPr>
          <p:spPr>
            <a:xfrm>
              <a:off x="1099349" y="5689282"/>
              <a:ext cx="5217761" cy="18288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29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Predictive Modeling</a:t>
              </a:r>
              <a:endParaRPr lang="en-US" sz="3600" dirty="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668471" y="2857502"/>
            <a:ext cx="4599733" cy="2972500"/>
            <a:chOff x="6672523" y="3494722"/>
            <a:chExt cx="5222427" cy="1828800"/>
          </a:xfrm>
        </p:grpSpPr>
        <p:sp>
          <p:nvSpPr>
            <p:cNvPr id="99" name="Shape 5"/>
            <p:cNvSpPr/>
            <p:nvPr/>
          </p:nvSpPr>
          <p:spPr>
            <a:xfrm>
              <a:off x="6682870" y="3494722"/>
              <a:ext cx="5212080" cy="1828800"/>
            </a:xfrm>
            <a:prstGeom prst="roundRect">
              <a:avLst>
                <a:gd name="adj" fmla="val 5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solid"/>
            </a:ln>
          </p:spPr>
        </p:sp>
        <p:sp>
          <p:nvSpPr>
            <p:cNvPr id="100" name="Shape 3"/>
            <p:cNvSpPr/>
            <p:nvPr/>
          </p:nvSpPr>
          <p:spPr>
            <a:xfrm>
              <a:off x="6900646" y="3665328"/>
              <a:ext cx="4776528" cy="14875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28575">
              <a:noFill/>
              <a:prstDash val="solid"/>
            </a:ln>
          </p:spPr>
        </p:sp>
        <p:sp>
          <p:nvSpPr>
            <p:cNvPr id="102" name="Text 6"/>
            <p:cNvSpPr/>
            <p:nvPr/>
          </p:nvSpPr>
          <p:spPr>
            <a:xfrm>
              <a:off x="6672523" y="3494722"/>
              <a:ext cx="5222427" cy="18288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29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Data Cleaning</a:t>
              </a:r>
              <a:endParaRPr lang="en-US" sz="3600" dirty="0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6668471" y="6506719"/>
            <a:ext cx="4599734" cy="2972500"/>
            <a:chOff x="6672522" y="5689282"/>
            <a:chExt cx="5222428" cy="1828800"/>
          </a:xfrm>
        </p:grpSpPr>
        <p:sp>
          <p:nvSpPr>
            <p:cNvPr id="104" name="Shape 11"/>
            <p:cNvSpPr/>
            <p:nvPr/>
          </p:nvSpPr>
          <p:spPr>
            <a:xfrm>
              <a:off x="6682870" y="5689282"/>
              <a:ext cx="5212080" cy="1828800"/>
            </a:xfrm>
            <a:prstGeom prst="roundRect">
              <a:avLst>
                <a:gd name="adj" fmla="val 5000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solid"/>
            </a:ln>
          </p:spPr>
        </p:sp>
        <p:sp>
          <p:nvSpPr>
            <p:cNvPr id="105" name="Shape 3"/>
            <p:cNvSpPr/>
            <p:nvPr/>
          </p:nvSpPr>
          <p:spPr>
            <a:xfrm>
              <a:off x="6866962" y="5859887"/>
              <a:ext cx="4776528" cy="14875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28575">
              <a:noFill/>
              <a:prstDash val="solid"/>
            </a:ln>
          </p:spPr>
        </p:sp>
        <p:sp>
          <p:nvSpPr>
            <p:cNvPr id="107" name="Text 12"/>
            <p:cNvSpPr/>
            <p:nvPr/>
          </p:nvSpPr>
          <p:spPr>
            <a:xfrm>
              <a:off x="6672522" y="5689282"/>
              <a:ext cx="5212080" cy="18288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29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Correlation Analysis</a:t>
              </a:r>
              <a:endParaRPr lang="en-US" sz="3600" dirty="0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12355455" y="2876869"/>
            <a:ext cx="4599735" cy="2972500"/>
            <a:chOff x="12250361" y="3494722"/>
            <a:chExt cx="5222429" cy="1828800"/>
          </a:xfrm>
        </p:grpSpPr>
        <p:sp>
          <p:nvSpPr>
            <p:cNvPr id="109" name="Shape 7"/>
            <p:cNvSpPr/>
            <p:nvPr/>
          </p:nvSpPr>
          <p:spPr>
            <a:xfrm>
              <a:off x="12260710" y="3494722"/>
              <a:ext cx="5212080" cy="18288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solid"/>
            </a:ln>
          </p:spPr>
        </p:sp>
        <p:sp>
          <p:nvSpPr>
            <p:cNvPr id="110" name="Shape 3"/>
            <p:cNvSpPr/>
            <p:nvPr/>
          </p:nvSpPr>
          <p:spPr>
            <a:xfrm>
              <a:off x="12478486" y="3665327"/>
              <a:ext cx="4776528" cy="14875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28575">
              <a:noFill/>
              <a:prstDash val="solid"/>
            </a:ln>
          </p:spPr>
        </p:sp>
        <p:sp>
          <p:nvSpPr>
            <p:cNvPr id="112" name="Text 8"/>
            <p:cNvSpPr/>
            <p:nvPr/>
          </p:nvSpPr>
          <p:spPr>
            <a:xfrm>
              <a:off x="12250361" y="3494722"/>
              <a:ext cx="5222429" cy="18288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29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Univariate Analysis</a:t>
              </a:r>
              <a:endParaRPr lang="en-US" sz="3600" dirty="0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12392647" y="6483188"/>
            <a:ext cx="4599735" cy="2972500"/>
            <a:chOff x="12250361" y="5689282"/>
            <a:chExt cx="5222429" cy="1828800"/>
          </a:xfrm>
        </p:grpSpPr>
        <p:sp>
          <p:nvSpPr>
            <p:cNvPr id="114" name="Shape 13"/>
            <p:cNvSpPr/>
            <p:nvPr/>
          </p:nvSpPr>
          <p:spPr>
            <a:xfrm>
              <a:off x="12260710" y="5689282"/>
              <a:ext cx="5212080" cy="1828800"/>
            </a:xfrm>
            <a:prstGeom prst="roundRect">
              <a:avLst>
                <a:gd name="adj" fmla="val 5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solid"/>
            </a:ln>
          </p:spPr>
        </p:sp>
        <p:sp>
          <p:nvSpPr>
            <p:cNvPr id="115" name="Shape 3"/>
            <p:cNvSpPr/>
            <p:nvPr/>
          </p:nvSpPr>
          <p:spPr>
            <a:xfrm>
              <a:off x="12478486" y="5859888"/>
              <a:ext cx="4776528" cy="14875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28575">
              <a:noFill/>
              <a:prstDash val="solid"/>
            </a:ln>
          </p:spPr>
        </p:sp>
        <p:sp>
          <p:nvSpPr>
            <p:cNvPr id="117" name="Text 14"/>
            <p:cNvSpPr/>
            <p:nvPr/>
          </p:nvSpPr>
          <p:spPr>
            <a:xfrm>
              <a:off x="12250361" y="5689282"/>
              <a:ext cx="5222429" cy="182880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2429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Bivariate Analysis</a:t>
              </a:r>
              <a:endParaRPr lang="en-US" sz="3600" dirty="0"/>
            </a:p>
          </p:txBody>
        </p:sp>
      </p:grpSp>
      <p:sp>
        <p:nvSpPr>
          <p:cNvPr id="3" name="Arrow: Right 2"/>
          <p:cNvSpPr/>
          <p:nvPr/>
        </p:nvSpPr>
        <p:spPr>
          <a:xfrm>
            <a:off x="5791200" y="4229100"/>
            <a:ext cx="685462" cy="381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row: Right 117"/>
          <p:cNvSpPr/>
          <p:nvPr/>
        </p:nvSpPr>
        <p:spPr>
          <a:xfrm>
            <a:off x="11479250" y="4218710"/>
            <a:ext cx="685462" cy="381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row: Right 118"/>
          <p:cNvSpPr/>
          <p:nvPr/>
        </p:nvSpPr>
        <p:spPr>
          <a:xfrm rot="10800000">
            <a:off x="11479250" y="7778937"/>
            <a:ext cx="685462" cy="381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row: Right 119"/>
          <p:cNvSpPr/>
          <p:nvPr/>
        </p:nvSpPr>
        <p:spPr>
          <a:xfrm rot="10800000">
            <a:off x="5748366" y="7802466"/>
            <a:ext cx="685462" cy="3810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Curved Left 1"/>
          <p:cNvSpPr/>
          <p:nvPr/>
        </p:nvSpPr>
        <p:spPr>
          <a:xfrm>
            <a:off x="17183125" y="5295900"/>
            <a:ext cx="599763" cy="1744350"/>
          </a:xfrm>
          <a:prstGeom prst="curved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1"/>
          <p:cNvSpPr/>
          <p:nvPr/>
        </p:nvSpPr>
        <p:spPr>
          <a:xfrm>
            <a:off x="1508760" y="200632"/>
            <a:ext cx="15270480" cy="2428267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9" name="Shape 3"/>
          <p:cNvSpPr/>
          <p:nvPr/>
        </p:nvSpPr>
        <p:spPr>
          <a:xfrm>
            <a:off x="3619500" y="2745259"/>
            <a:ext cx="11049000" cy="7341108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36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are the demographic and clinical profiles of the study population?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000809" y="3133272"/>
          <a:ext cx="10286382" cy="6566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3191"/>
                <a:gridCol w="5143191"/>
              </a:tblGrid>
              <a:tr h="5969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Variable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Result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Number of patients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4,996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Mean age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53.29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Median age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53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Male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2478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Female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2518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Mean hospital stay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7.398519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>
                          <a:effectLst/>
                        </a:rPr>
                        <a:t>Mean procedures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4.462770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Mean comorbidity score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2.068855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Most common diagnosis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Kidney Disease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96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cap="all" dirty="0">
                          <a:effectLst/>
                        </a:rPr>
                        <a:t>Readmission rate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18.81</a:t>
                      </a:r>
                      <a:r>
                        <a:rPr lang="ar-EG" sz="2800" dirty="0">
                          <a:effectLst/>
                        </a:rPr>
                        <a:t>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1"/>
          <p:cNvSpPr/>
          <p:nvPr/>
        </p:nvSpPr>
        <p:spPr>
          <a:xfrm>
            <a:off x="1533884" y="266036"/>
            <a:ext cx="15245355" cy="2134263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6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the overall hospital readmission rate?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9146059" y="2705100"/>
            <a:ext cx="8092440" cy="671322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pic>
        <p:nvPicPr>
          <p:cNvPr id="38" name="Image 0" descr="assets/image1.png"/>
          <p:cNvPicPr>
            <a:picLocks noChangeAspect="1"/>
          </p:cNvPicPr>
          <p:nvPr/>
        </p:nvPicPr>
        <p:blipFill rotWithShape="1">
          <a:blip r:embed="rId1"/>
          <a:srcRect l="5669"/>
          <a:stretch>
            <a:fillRect/>
          </a:stretch>
        </p:blipFill>
        <p:spPr>
          <a:xfrm>
            <a:off x="9150180" y="3394710"/>
            <a:ext cx="8105674" cy="5334000"/>
          </a:xfrm>
          <a:prstGeom prst="rect">
            <a:avLst/>
          </a:prstGeom>
        </p:spPr>
      </p:pic>
      <p:sp>
        <p:nvSpPr>
          <p:cNvPr id="39" name="Shape 7"/>
          <p:cNvSpPr/>
          <p:nvPr/>
        </p:nvSpPr>
        <p:spPr>
          <a:xfrm>
            <a:off x="1068036" y="3348372"/>
            <a:ext cx="7103899" cy="5421527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40" name="TextBox 39"/>
          <p:cNvSpPr txBox="1"/>
          <p:nvPr/>
        </p:nvSpPr>
        <p:spPr>
          <a:xfrm>
            <a:off x="1533885" y="4535641"/>
            <a:ext cx="6172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Out of 4,996 patients, 18.81% were readmitted while 81.19% were not, nearly one in five patients experienced a hospital readmission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1"/>
          <p:cNvSpPr/>
          <p:nvPr/>
        </p:nvSpPr>
        <p:spPr>
          <a:xfrm>
            <a:off x="1752599" y="342568"/>
            <a:ext cx="14782800" cy="1870611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the distribution of patients' ages?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715250" y="2476500"/>
            <a:ext cx="16857499" cy="5181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pic>
        <p:nvPicPr>
          <p:cNvPr id="5" name="Image 0" descr="assets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667000"/>
            <a:ext cx="7902222" cy="4953000"/>
          </a:xfrm>
          <a:prstGeom prst="rect">
            <a:avLst/>
          </a:prstGeom>
        </p:spPr>
      </p:pic>
      <p:pic>
        <p:nvPicPr>
          <p:cNvPr id="6" name="Image 1" descr="assets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995" y="2590800"/>
            <a:ext cx="8918585" cy="49530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715250" y="7848600"/>
            <a:ext cx="16857499" cy="1649627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9" name="TextBox 8"/>
          <p:cNvSpPr txBox="1"/>
          <p:nvPr/>
        </p:nvSpPr>
        <p:spPr>
          <a:xfrm>
            <a:off x="990600" y="7942443"/>
            <a:ext cx="16222979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Age is approximately symmetric and close to normal (skewness = 0.0095), spanning 18–89 years with a median in the mid-50s</a:t>
            </a:r>
            <a:endParaRPr lang="en-US" sz="2800" dirty="0">
              <a:solidFill>
                <a:schemeClr val="bg1"/>
              </a:solidFill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The box plot confirms the data is completely free of outliers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1"/>
          <p:cNvSpPr/>
          <p:nvPr/>
        </p:nvSpPr>
        <p:spPr>
          <a:xfrm>
            <a:off x="1749510" y="249201"/>
            <a:ext cx="14859000" cy="2134263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primary diagnoses are most common?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9146059" y="2705100"/>
            <a:ext cx="8092440" cy="671322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6" name="Shape 7"/>
          <p:cNvSpPr/>
          <p:nvPr/>
        </p:nvSpPr>
        <p:spPr>
          <a:xfrm>
            <a:off x="1068036" y="3348372"/>
            <a:ext cx="7103899" cy="5421527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Box 6"/>
          <p:cNvSpPr txBox="1"/>
          <p:nvPr/>
        </p:nvSpPr>
        <p:spPr>
          <a:xfrm>
            <a:off x="1533885" y="4535641"/>
            <a:ext cx="6172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Kidney Disease is the most common primary diagnosis, followed by Diabetes and COPD, Heart Disease is the least frequent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8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9010" y="3348372"/>
            <a:ext cx="8045556" cy="55204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1"/>
          <p:cNvSpPr/>
          <p:nvPr/>
        </p:nvSpPr>
        <p:spPr>
          <a:xfrm>
            <a:off x="1750542" y="183681"/>
            <a:ext cx="14782800" cy="2339302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age differ between readmitted and non-readmitted patients?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9146059" y="2705100"/>
            <a:ext cx="8092440" cy="671322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6" name="Shape 7"/>
          <p:cNvSpPr/>
          <p:nvPr/>
        </p:nvSpPr>
        <p:spPr>
          <a:xfrm>
            <a:off x="1068036" y="3348372"/>
            <a:ext cx="7103899" cy="5421527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Box 6"/>
          <p:cNvSpPr txBox="1"/>
          <p:nvPr/>
        </p:nvSpPr>
        <p:spPr>
          <a:xfrm>
            <a:off x="1533885" y="3812366"/>
            <a:ext cx="61722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Independent samples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t-test: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t = -0.114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p = 0.909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not significant.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Age shows no association with hospital readmission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9" name="Image 0" descr="assets/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942" y="3069334"/>
            <a:ext cx="8071638" cy="5979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1"/>
          <p:cNvSpPr/>
          <p:nvPr/>
        </p:nvSpPr>
        <p:spPr>
          <a:xfrm>
            <a:off x="1293342" y="330689"/>
            <a:ext cx="15697200" cy="2118164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 gender associated with hospital readmission?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9146059" y="2705100"/>
            <a:ext cx="8092440" cy="671322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6" name="Shape 7"/>
          <p:cNvSpPr/>
          <p:nvPr/>
        </p:nvSpPr>
        <p:spPr>
          <a:xfrm>
            <a:off x="1068036" y="3348372"/>
            <a:ext cx="7103899" cy="5421527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Box 6"/>
          <p:cNvSpPr txBox="1"/>
          <p:nvPr/>
        </p:nvSpPr>
        <p:spPr>
          <a:xfrm>
            <a:off x="1533885" y="3604616"/>
            <a:ext cx="6172200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Chi-Square Test of Independence: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χ² = 1.138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p = 0.286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not significant.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Gender is not a significant factor in readmission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8" name="Image 0" descr="assets/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020848"/>
            <a:ext cx="7840980" cy="60765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1"/>
          <p:cNvSpPr/>
          <p:nvPr/>
        </p:nvSpPr>
        <p:spPr>
          <a:xfrm>
            <a:off x="715250" y="114301"/>
            <a:ext cx="16857499" cy="2244753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510024" y="319743"/>
            <a:ext cx="17267948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48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stay length, procedures, and comorbidity differ by readmission?</a:t>
            </a:r>
            <a:endParaRPr lang="en-US" sz="48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715250" y="2513027"/>
            <a:ext cx="16857499" cy="5181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15250" y="7848600"/>
            <a:ext cx="16857499" cy="2132776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9" name="TextBox 8"/>
          <p:cNvSpPr txBox="1"/>
          <p:nvPr/>
        </p:nvSpPr>
        <p:spPr>
          <a:xfrm>
            <a:off x="1032509" y="7968575"/>
            <a:ext cx="1622297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Days in hospital: t = 0.707, p = 0.480 (NS), Procedures: t = 0.213, p = 0.831 (NS),  Comorbidity score: t = 0.095, p = 0.925 (NS)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None of the three care-process variables show a significant difference between readmitted and non-readmitted patients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32509" y="2513027"/>
            <a:ext cx="16181071" cy="5181600"/>
            <a:chOff x="457200" y="1234440"/>
            <a:chExt cx="11247120" cy="2871216"/>
          </a:xfrm>
        </p:grpSpPr>
        <p:pic>
          <p:nvPicPr>
            <p:cNvPr id="11" name="Image 0" descr="assets/image7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7200" y="1234440"/>
              <a:ext cx="3657600" cy="2871216"/>
            </a:xfrm>
            <a:prstGeom prst="rect">
              <a:avLst/>
            </a:prstGeom>
          </p:spPr>
        </p:pic>
        <p:pic>
          <p:nvPicPr>
            <p:cNvPr id="12" name="Image 1" descr="assets/image8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97680" y="1234440"/>
              <a:ext cx="3657600" cy="2697480"/>
            </a:xfrm>
            <a:prstGeom prst="rect">
              <a:avLst/>
            </a:prstGeom>
          </p:spPr>
        </p:pic>
        <p:pic>
          <p:nvPicPr>
            <p:cNvPr id="13" name="Image 2" descr="assets/image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38160" y="1234440"/>
              <a:ext cx="3566160" cy="2788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1"/>
          <p:cNvSpPr/>
          <p:nvPr/>
        </p:nvSpPr>
        <p:spPr>
          <a:xfrm>
            <a:off x="1981198" y="76200"/>
            <a:ext cx="14325600" cy="2209800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468115" y="305624"/>
            <a:ext cx="17267948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48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Are diagnosis or discharge destination linked to readmission?</a:t>
            </a:r>
            <a:endParaRPr lang="en-US" sz="48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715250" y="2476500"/>
            <a:ext cx="16857499" cy="51816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15250" y="7848600"/>
            <a:ext cx="16857499" cy="2132776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9" name="TextBox 8"/>
          <p:cNvSpPr txBox="1"/>
          <p:nvPr/>
        </p:nvSpPr>
        <p:spPr>
          <a:xfrm>
            <a:off x="1032509" y="7968575"/>
            <a:ext cx="1622297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Diagnosis: χ² = 2.016, df = 4, p = 0.733 (NS)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Discharge destination: χ² = 2.204, df = 3, p = 0.531 (NS)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Readmission is independent of both primary diagnosis and discharge destination in this dataset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184908" y="2476500"/>
            <a:ext cx="15918180" cy="5181600"/>
            <a:chOff x="594360" y="1234440"/>
            <a:chExt cx="10972800" cy="3090672"/>
          </a:xfrm>
        </p:grpSpPr>
        <p:pic>
          <p:nvPicPr>
            <p:cNvPr id="15" name="Image 0" descr="assets/image10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4360" y="1234440"/>
              <a:ext cx="5394960" cy="3090672"/>
            </a:xfrm>
            <a:prstGeom prst="rect">
              <a:avLst/>
            </a:prstGeom>
          </p:spPr>
        </p:pic>
        <p:pic>
          <p:nvPicPr>
            <p:cNvPr id="16" name="Image 1" descr="assets/image1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5080" y="1234440"/>
              <a:ext cx="5212080" cy="28620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1"/>
          <p:cNvSpPr/>
          <p:nvPr/>
        </p:nvSpPr>
        <p:spPr>
          <a:xfrm>
            <a:off x="1533884" y="266037"/>
            <a:ext cx="15245355" cy="2115170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48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are age, stay, procedures &amp; comorbidity related to each other?</a:t>
            </a:r>
            <a:endParaRPr lang="en-US" sz="48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9146059" y="2705100"/>
            <a:ext cx="8092440" cy="671322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6" name="Shape 7"/>
          <p:cNvSpPr/>
          <p:nvPr/>
        </p:nvSpPr>
        <p:spPr>
          <a:xfrm>
            <a:off x="1068036" y="3348372"/>
            <a:ext cx="7103899" cy="5421527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Box 6"/>
          <p:cNvSpPr txBox="1"/>
          <p:nvPr/>
        </p:nvSpPr>
        <p:spPr>
          <a:xfrm>
            <a:off x="1533885" y="4212474"/>
            <a:ext cx="6172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All pairwise correlations range from -0.025 to 0.020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negligible linear relationships among all four numeric variables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9" name="Image 0" descr="assets/image12.png"/>
          <p:cNvPicPr>
            <a:picLocks noChangeAspect="1"/>
          </p:cNvPicPr>
          <p:nvPr/>
        </p:nvPicPr>
        <p:blipFill rotWithShape="1">
          <a:blip r:embed="rId1"/>
          <a:srcRect l="3799" r="10337"/>
          <a:stretch>
            <a:fillRect/>
          </a:stretch>
        </p:blipFill>
        <p:spPr>
          <a:xfrm>
            <a:off x="9384327" y="2820634"/>
            <a:ext cx="7615904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1"/>
          <p:cNvSpPr/>
          <p:nvPr/>
        </p:nvSpPr>
        <p:spPr>
          <a:xfrm>
            <a:off x="8993349" y="190501"/>
            <a:ext cx="8981713" cy="2971799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8993350" y="723900"/>
            <a:ext cx="8981713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48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factors are the strongest predictors of hospital readmission?</a:t>
            </a:r>
            <a:endParaRPr lang="en-US" sz="48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435929" y="3302466"/>
          <a:ext cx="8096556" cy="6713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48278"/>
                <a:gridCol w="4048278"/>
              </a:tblGrid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Variable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VIF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Age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1.00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Number of Procedures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1.00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Days in Hospital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1.00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Comorbidity Score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1.00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Gender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1.00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Diabetes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1.60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Heart Disease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1.58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Hypertension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1.59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Kidney Disease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1.61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Home Health Care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1.48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Rehabilitation Facility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1.47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5164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Skilled Nursing Facility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1.46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8445" y="190501"/>
          <a:ext cx="8096556" cy="98251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2590"/>
                <a:gridCol w="1692051"/>
                <a:gridCol w="1537046"/>
                <a:gridCol w="1465174"/>
                <a:gridCol w="1319695"/>
              </a:tblGrid>
              <a:tr h="3800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Variable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β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OR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95% CI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P-value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Age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0.0002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1.000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0.997–1.004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0.890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Number of Procedures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-0.003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0.997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0.972–1.021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0.787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Days in Hospital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-0.007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0.993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0.976–1.011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0.447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Comorbidity Score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-0.003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0.997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0.948–1.048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0.906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Gender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-0.081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0.922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0.800–1.063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0.264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Diabetes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0.063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1.065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0.853–1.331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0.577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Heart Disease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-0.019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0.981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0.781–1.233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0.872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Hypertension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-0.052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0.949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0.755–1.193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0.656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Kidney Disease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0.089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1.093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0.877–1.363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0.428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Home Health Care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0.003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1.003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0.825–1.219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0.976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7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Rehabilitation Facility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-0.014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0.987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0.809–1.203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0.893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8907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Skilled Nursing Facility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-0.136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0.873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0.711–1.071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0.192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21"/>
          <p:cNvSpPr/>
          <p:nvPr/>
        </p:nvSpPr>
        <p:spPr>
          <a:xfrm>
            <a:off x="1752600" y="266036"/>
            <a:ext cx="15024581" cy="2132775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48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well does the logistic regression model predict hospital readmission?</a:t>
            </a:r>
            <a:endParaRPr lang="en-US" sz="48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7239000" y="2705100"/>
            <a:ext cx="10333749" cy="48920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5250" y="2926080"/>
          <a:ext cx="6066550" cy="4671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3275"/>
                <a:gridCol w="3033275"/>
              </a:tblGrid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Metric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Value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Accuracy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81.18%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Precision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0.00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Recall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0.00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F1-score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0.00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ROC-AUC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</a:t>
                      </a:r>
                      <a:r>
                        <a:rPr lang="ar-SA" sz="2800" dirty="0">
                          <a:effectLst/>
                        </a:rPr>
                        <a:t>528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10" name="Image 0" descr="assets/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5608" y="2711568"/>
            <a:ext cx="5274070" cy="4863864"/>
          </a:xfrm>
          <a:prstGeom prst="rect">
            <a:avLst/>
          </a:prstGeom>
        </p:spPr>
      </p:pic>
      <p:pic>
        <p:nvPicPr>
          <p:cNvPr id="11" name="Image 1" descr="assets/image13.png"/>
          <p:cNvPicPr>
            <a:picLocks noChangeAspect="1"/>
          </p:cNvPicPr>
          <p:nvPr/>
        </p:nvPicPr>
        <p:blipFill rotWithShape="1">
          <a:blip r:embed="rId2"/>
          <a:srcRect l="15351" t="13096" r="12281" b="12950"/>
          <a:stretch>
            <a:fillRect/>
          </a:stretch>
        </p:blipFill>
        <p:spPr>
          <a:xfrm>
            <a:off x="13577811" y="5676899"/>
            <a:ext cx="3199370" cy="120454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3440136" y="3397288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B5D7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81.18%</a:t>
            </a:r>
            <a:endParaRPr lang="en-US" sz="5400" dirty="0">
              <a:solidFill>
                <a:srgbClr val="2B5D7C"/>
              </a:solidFill>
            </a:endParaRPr>
          </a:p>
        </p:txBody>
      </p:sp>
      <p:sp>
        <p:nvSpPr>
          <p:cNvPr id="13" name="Text 4"/>
          <p:cNvSpPr/>
          <p:nvPr/>
        </p:nvSpPr>
        <p:spPr>
          <a:xfrm>
            <a:off x="12878358" y="4094204"/>
            <a:ext cx="4598276" cy="15826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6470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Accuracy, but Precision, Recall &amp; F1 = 0</a:t>
            </a:r>
            <a:endParaRPr lang="en-US" sz="2800" dirty="0"/>
          </a:p>
        </p:txBody>
      </p:sp>
      <p:sp>
        <p:nvSpPr>
          <p:cNvPr id="14" name="Shape 7"/>
          <p:cNvSpPr/>
          <p:nvPr/>
        </p:nvSpPr>
        <p:spPr>
          <a:xfrm>
            <a:off x="715250" y="7848600"/>
            <a:ext cx="16857499" cy="2132776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5" name="TextBox 14"/>
          <p:cNvSpPr txBox="1"/>
          <p:nvPr/>
        </p:nvSpPr>
        <p:spPr>
          <a:xfrm>
            <a:off x="1032509" y="7968575"/>
            <a:ext cx="1622297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All VIF values &lt; 5 , no multicollinearity among predictors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Full model not significant (LLR p = 0.9046), no individual predictor reached significance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ROC-AUC = 0.528 — the model predicts only the majority class (0 true positives out of 940 readmitted patients)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1"/>
          <p:cNvSpPr/>
          <p:nvPr/>
        </p:nvSpPr>
        <p:spPr>
          <a:xfrm>
            <a:off x="983080" y="346147"/>
            <a:ext cx="16063989" cy="2069695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983080" y="375803"/>
            <a:ext cx="16063989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Patients Naturally Cluster Into Distinct Groups?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495399" y="2741396"/>
            <a:ext cx="17039349" cy="489204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4" name="Shape 7"/>
          <p:cNvSpPr/>
          <p:nvPr/>
        </p:nvSpPr>
        <p:spPr>
          <a:xfrm>
            <a:off x="715250" y="8039100"/>
            <a:ext cx="16857499" cy="1942276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5" name="TextBox 14"/>
          <p:cNvSpPr txBox="1"/>
          <p:nvPr/>
        </p:nvSpPr>
        <p:spPr>
          <a:xfrm>
            <a:off x="1032509" y="8325933"/>
            <a:ext cx="162229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patients do not form natural, well-separated clusters. Any partition imposed on this data (e.g., k = 4) is a mathematical convenience for description, not evidence of real patient subgroups.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080" y="2741396"/>
            <a:ext cx="9837040" cy="48920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t="1000"/>
          <a:stretch>
            <a:fillRect/>
          </a:stretch>
        </p:blipFill>
        <p:spPr bwMode="auto">
          <a:xfrm>
            <a:off x="11103469" y="2741397"/>
            <a:ext cx="5943600" cy="4892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1"/>
          <p:cNvSpPr/>
          <p:nvPr/>
        </p:nvSpPr>
        <p:spPr>
          <a:xfrm>
            <a:off x="1240930" y="266037"/>
            <a:ext cx="15538309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15" name="Shape 3"/>
          <p:cNvSpPr/>
          <p:nvPr/>
        </p:nvSpPr>
        <p:spPr>
          <a:xfrm>
            <a:off x="1028750" y="2359271"/>
            <a:ext cx="16230500" cy="5487485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58890" y="2706163"/>
          <a:ext cx="7315200" cy="48746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926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Test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Statistic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df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p-value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1689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Wilks' Lambda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0.0949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—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15926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MANOVA (Bartlett's χ² approx.)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χ² = 11762.2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12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&lt; 0.001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789846" y="3390900"/>
          <a:ext cx="6931026" cy="4188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8625"/>
                <a:gridCol w="1652059"/>
                <a:gridCol w="2310342"/>
              </a:tblGrid>
              <a:tr h="8377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Variable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F-statistic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p-value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837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age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4.99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0.0019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837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num_procedures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3555.28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&lt; 0.001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837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days_in_hospital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1420.01</a:t>
                      </a:r>
                      <a:endParaRPr lang="en-US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&lt; 0.001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8377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comorbidity_score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1346.6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&lt; 0.001</a:t>
                      </a:r>
                      <a:endParaRPr lang="en-US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  <p:sp>
        <p:nvSpPr>
          <p:cNvPr id="10" name="Text 2"/>
          <p:cNvSpPr/>
          <p:nvPr/>
        </p:nvSpPr>
        <p:spPr>
          <a:xfrm>
            <a:off x="983080" y="375803"/>
            <a:ext cx="16063989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Composition of Each Cluster (MANOVA / ANOVA)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79602" y="2620726"/>
            <a:ext cx="5751513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500"/>
              </a:spcBef>
              <a:spcAft>
                <a:spcPts val="750"/>
              </a:spcAft>
            </a:pPr>
            <a:r>
              <a:rPr lang="en-US" sz="3200" b="1" dirty="0">
                <a:solidFill>
                  <a:srgbClr val="00899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Univariate ANOVA per Variable</a:t>
            </a:r>
            <a:endParaRPr lang="en-US" sz="3200" b="1" dirty="0">
              <a:solidFill>
                <a:srgbClr val="008991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1558890" y="8141564"/>
            <a:ext cx="15161981" cy="1916836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4" name="TextBox 13"/>
          <p:cNvSpPr txBox="1"/>
          <p:nvPr/>
        </p:nvSpPr>
        <p:spPr>
          <a:xfrm>
            <a:off x="1687428" y="8407484"/>
            <a:ext cx="149099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These findings indicate that the identified clusters represent patient groups with distinct clinical characteristics across all variables included in the clustering analysis.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1"/>
          <p:cNvSpPr/>
          <p:nvPr/>
        </p:nvSpPr>
        <p:spPr>
          <a:xfrm>
            <a:off x="2855553" y="266037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15" name="Shape 3"/>
          <p:cNvSpPr/>
          <p:nvPr/>
        </p:nvSpPr>
        <p:spPr>
          <a:xfrm>
            <a:off x="1028750" y="2359271"/>
            <a:ext cx="16230500" cy="5487485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83080" y="375803"/>
            <a:ext cx="16063989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Readmission Rate by Cluster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7182" y="2620726"/>
            <a:ext cx="13616515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500"/>
              </a:spcBef>
              <a:spcAft>
                <a:spcPts val="750"/>
              </a:spcAft>
            </a:pPr>
            <a:r>
              <a:rPr lang="en-US" sz="3200" b="1" dirty="0">
                <a:solidFill>
                  <a:srgbClr val="00899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Chi-Square Test of Independence: χ²(3) = 1.591, p = 0.661 (Not Significant)</a:t>
            </a:r>
            <a:endParaRPr lang="en-US" sz="3200" b="1" dirty="0">
              <a:solidFill>
                <a:srgbClr val="008991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983080" y="8141564"/>
            <a:ext cx="16230500" cy="1916836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4" name="TextBox 13"/>
          <p:cNvSpPr txBox="1"/>
          <p:nvPr/>
        </p:nvSpPr>
        <p:spPr>
          <a:xfrm>
            <a:off x="1250909" y="8407484"/>
            <a:ext cx="15796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Despite the clusters differing sharply on the variables used to build them (Section 14), their readmission rates are nearly identical, ranging narrowly from 18.0% to 19.9%, and the chi-square test confirms this difference is not statistically significant. 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91640" y="3439281"/>
          <a:ext cx="15087600" cy="4133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3800"/>
                <a:gridCol w="7543800"/>
              </a:tblGrid>
              <a:tr h="8267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Cluster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Readmission Rate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8267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Cluster 0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>
                          <a:effectLst/>
                        </a:rPr>
                        <a:t>19.9%</a:t>
                      </a:r>
                      <a:endParaRPr lang="en-US" sz="4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8267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Cluster 1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18.6%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8267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Cluster 2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17.97%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  <a:tr h="8267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Cluster 3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18.8%</a:t>
                      </a:r>
                      <a:endParaRPr lang="en-US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1"/>
          <p:cNvSpPr/>
          <p:nvPr/>
        </p:nvSpPr>
        <p:spPr>
          <a:xfrm>
            <a:off x="2855553" y="1185540"/>
            <a:ext cx="12576894" cy="1902216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15" name="Shape 3"/>
          <p:cNvSpPr/>
          <p:nvPr/>
        </p:nvSpPr>
        <p:spPr>
          <a:xfrm>
            <a:off x="1028750" y="3581737"/>
            <a:ext cx="16230500" cy="5487485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3" name="Text 2"/>
          <p:cNvSpPr/>
          <p:nvPr/>
        </p:nvSpPr>
        <p:spPr>
          <a:xfrm>
            <a:off x="1508760" y="419100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83080" y="1255032"/>
            <a:ext cx="16063989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5400" b="1" kern="0" spc="300" dirty="0">
              <a:solidFill>
                <a:srgbClr val="00899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Interactive Dashboard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831447" y="3962737"/>
            <a:ext cx="10625105" cy="4482275"/>
            <a:chOff x="3962400" y="3694718"/>
            <a:chExt cx="10625105" cy="4482275"/>
          </a:xfrm>
        </p:grpSpPr>
        <p:pic>
          <p:nvPicPr>
            <p:cNvPr id="1026" name="Picture 2" descr="Power BI - Microsoft Logo PNG Vector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45" t="25935" b="26065"/>
            <a:stretch>
              <a:fillRect/>
            </a:stretch>
          </p:blipFill>
          <p:spPr bwMode="auto">
            <a:xfrm>
              <a:off x="10893780" y="3694718"/>
              <a:ext cx="3693725" cy="4482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Shape 7"/>
            <p:cNvSpPr/>
            <p:nvPr/>
          </p:nvSpPr>
          <p:spPr>
            <a:xfrm>
              <a:off x="3962400" y="3748768"/>
              <a:ext cx="6222609" cy="4428225"/>
            </a:xfrm>
            <a:prstGeom prst="roundRect">
              <a:avLst>
                <a:gd name="adj" fmla="val 4091"/>
              </a:avLst>
            </a:prstGeom>
            <a:solidFill>
              <a:srgbClr val="1E3A5F"/>
            </a:solidFill>
            <a:effectLst>
              <a:outerShdw blurRad="127000" dist="38100" dir="5400000" algn="bl" rotWithShape="0">
                <a:srgbClr val="162B47">
                  <a:alpha val="18000"/>
                </a:srgbClr>
              </a:outerShdw>
            </a:effectLst>
          </p:spPr>
        </p:sp>
        <p:sp>
          <p:nvSpPr>
            <p:cNvPr id="16" name="TextBox 15"/>
            <p:cNvSpPr txBox="1"/>
            <p:nvPr/>
          </p:nvSpPr>
          <p:spPr>
            <a:xfrm>
              <a:off x="3962400" y="4551081"/>
              <a:ext cx="6222609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60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Switching to the live Power BI dashboard</a:t>
              </a:r>
              <a:endParaRPr lang="en-US" sz="60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1"/>
          <p:cNvSpPr/>
          <p:nvPr/>
        </p:nvSpPr>
        <p:spPr>
          <a:xfrm>
            <a:off x="2400300" y="194743"/>
            <a:ext cx="13487400" cy="2439063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1508760" y="555501"/>
            <a:ext cx="15270480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5400" b="1" kern="0" spc="300" dirty="0">
              <a:solidFill>
                <a:srgbClr val="00899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 Random Forest Detect Patterns the Logistic Regression Missed?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6553200" y="2997708"/>
            <a:ext cx="10913899" cy="671322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6" name="Shape 7"/>
          <p:cNvSpPr/>
          <p:nvPr/>
        </p:nvSpPr>
        <p:spPr>
          <a:xfrm>
            <a:off x="820902" y="2997708"/>
            <a:ext cx="5478574" cy="6713220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7" name="TextBox 6"/>
          <p:cNvSpPr txBox="1"/>
          <p:nvPr/>
        </p:nvSpPr>
        <p:spPr>
          <a:xfrm>
            <a:off x="820902" y="3030331"/>
            <a:ext cx="5478574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The feature importance plot shows that age is the most influential predictor, followed by days in hospital, number of procedures, and comorbidity score. 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  <a:p>
            <a:pPr algn="ctr">
              <a:spcAft>
                <a:spcPts val="600"/>
              </a:spcAft>
              <a:buSzPct val="100000"/>
            </a:pP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The remaining variables have relatively lower importance.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764" y="2997708"/>
            <a:ext cx="9860952" cy="67132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1"/>
          <p:cNvSpPr/>
          <p:nvPr/>
        </p:nvSpPr>
        <p:spPr>
          <a:xfrm>
            <a:off x="2855553" y="266037"/>
            <a:ext cx="12576894" cy="2362863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3" name="Text 2"/>
          <p:cNvSpPr/>
          <p:nvPr/>
        </p:nvSpPr>
        <p:spPr>
          <a:xfrm>
            <a:off x="550391" y="555501"/>
            <a:ext cx="17187215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5400" b="1" kern="0" spc="300" dirty="0">
              <a:solidFill>
                <a:srgbClr val="00899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Relative Variable Importance: 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 vs. Logistic Regression</a:t>
            </a:r>
            <a:endParaRPr lang="en-US" sz="48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64829" y="2719631"/>
          <a:ext cx="15614410" cy="57732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03690"/>
                <a:gridCol w="5205360"/>
                <a:gridCol w="5205360"/>
              </a:tblGrid>
              <a:tr h="4111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Variable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Logistic Regression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Random Forest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0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Age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β = 0.0002, P = 0.890 (Not Significant)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0.2941 (Highest Importance)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680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Days in Hospital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β = -0.007, P = 0.447 (Not Significant)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0.1844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680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Number of Procedures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β = -0.003, P = 0.787 (Not Significant)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0.1614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680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Comorbidity Score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β = -0.003, P = 0.906 (Not Significant)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0.1007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6809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Gender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β = -0.081, P = 0.264 (Not Significant)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0.0405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27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Diagnosis Variables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All Not Significant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Low Importance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3327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Discharge Variables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All Not Significant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Low Importance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550391" y="8644487"/>
            <a:ext cx="17187215" cy="1477921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0" name="TextBox 9"/>
          <p:cNvSpPr txBox="1"/>
          <p:nvPr/>
        </p:nvSpPr>
        <p:spPr>
          <a:xfrm>
            <a:off x="550391" y="8737413"/>
            <a:ext cx="171872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Although Random Forest provides a ranking of variable importance, it does not indicate statistical significance, and both models suggest limited predictive information in the available variables.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1"/>
          <p:cNvSpPr/>
          <p:nvPr/>
        </p:nvSpPr>
        <p:spPr>
          <a:xfrm>
            <a:off x="2855553" y="266036"/>
            <a:ext cx="12576894" cy="2084461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11" name="Shape 3"/>
          <p:cNvSpPr/>
          <p:nvPr/>
        </p:nvSpPr>
        <p:spPr>
          <a:xfrm>
            <a:off x="373429" y="2494648"/>
            <a:ext cx="17541141" cy="5297704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3" name="Text 2"/>
          <p:cNvSpPr/>
          <p:nvPr/>
        </p:nvSpPr>
        <p:spPr>
          <a:xfrm>
            <a:off x="550391" y="492949"/>
            <a:ext cx="17187215" cy="1717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5400" b="1" kern="0" spc="300" dirty="0">
              <a:solidFill>
                <a:srgbClr val="00899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5400" b="1" dirty="0">
                <a:solidFill>
                  <a:srgbClr val="2B5D7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model actually performs best?</a:t>
            </a:r>
            <a:endParaRPr lang="en-US" sz="5400" b="1" dirty="0">
              <a:solidFill>
                <a:srgbClr val="2B5D7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0391" y="8013951"/>
            <a:ext cx="17187215" cy="1673293"/>
          </a:xfrm>
          <a:prstGeom prst="roundRect">
            <a:avLst>
              <a:gd name="adj" fmla="val 4091"/>
            </a:avLst>
          </a:prstGeom>
          <a:solidFill>
            <a:srgbClr val="1E3A5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</p:sp>
      <p:sp>
        <p:nvSpPr>
          <p:cNvPr id="10" name="TextBox 9"/>
          <p:cNvSpPr txBox="1"/>
          <p:nvPr/>
        </p:nvSpPr>
        <p:spPr>
          <a:xfrm>
            <a:off x="617474" y="8158099"/>
            <a:ext cx="171872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-122"/>
                <a:cs typeface="Verdana" panose="020B0604030504040204" pitchFamily="34" charset="-120"/>
              </a:rPr>
              <a:t>Random Forest's full-data ROC-AUC (0.711) looks strong, but drops to 0.469 under 5-fold cross-validation, below random chance. Logistic regression shows a far smaller gap (0.528 → 0.467) because it has less capacity to overfit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-122"/>
              <a:cs typeface="Verdana" panose="020B0604030504040204" pitchFamily="34" charset="-120"/>
            </a:endParaRPr>
          </a:p>
        </p:txBody>
      </p:sp>
      <p:pic>
        <p:nvPicPr>
          <p:cNvPr id="7" name="Image 0" descr="assets/image18.png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90600" y="2494648"/>
            <a:ext cx="8364795" cy="5297704"/>
          </a:xfrm>
          <a:prstGeom prst="rect">
            <a:avLst/>
          </a:prstGeom>
        </p:spPr>
      </p:pic>
      <p:pic>
        <p:nvPicPr>
          <p:cNvPr id="8" name="Image 1" descr="assets/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919" y="2494648"/>
            <a:ext cx="7604976" cy="52977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/>
        </p:nvSpPr>
        <p:spPr>
          <a:xfrm>
            <a:off x="4742476" y="576072"/>
            <a:ext cx="8803047" cy="1480019"/>
          </a:xfrm>
          <a:custGeom>
            <a:avLst/>
            <a:gdLst/>
            <a:ahLst/>
            <a:cxnLst/>
            <a:rect l="l" t="t" r="r" b="b"/>
            <a:pathLst>
              <a:path w="1771616" h="307337">
                <a:moveTo>
                  <a:pt x="0" y="0"/>
                </a:moveTo>
                <a:lnTo>
                  <a:pt x="1771616" y="0"/>
                </a:lnTo>
                <a:lnTo>
                  <a:pt x="1771616" y="307337"/>
                </a:lnTo>
                <a:lnTo>
                  <a:pt x="0" y="307337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B5D7C"/>
            </a:solidFill>
            <a:prstDash val="solid"/>
            <a:miter/>
          </a:ln>
        </p:spPr>
      </p:sp>
      <p:sp>
        <p:nvSpPr>
          <p:cNvPr id="25" name="Shape 3"/>
          <p:cNvSpPr/>
          <p:nvPr/>
        </p:nvSpPr>
        <p:spPr>
          <a:xfrm>
            <a:off x="598098" y="2260504"/>
            <a:ext cx="17091804" cy="7450424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27520" y="1110996"/>
            <a:ext cx="4632960" cy="3703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kern="0" spc="300" dirty="0">
                <a:solidFill>
                  <a:srgbClr val="0089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54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1219200" y="2844752"/>
            <a:ext cx="1139952" cy="1124712"/>
            <a:chOff x="1219200" y="3017520"/>
            <a:chExt cx="1139952" cy="1124712"/>
          </a:xfrm>
        </p:grpSpPr>
        <p:sp>
          <p:nvSpPr>
            <p:cNvPr id="7" name="Shape 4"/>
            <p:cNvSpPr/>
            <p:nvPr/>
          </p:nvSpPr>
          <p:spPr>
            <a:xfrm>
              <a:off x="1219200" y="3017520"/>
              <a:ext cx="1139952" cy="1124712"/>
            </a:xfrm>
            <a:prstGeom prst="ellipse">
              <a:avLst/>
            </a:prstGeom>
            <a:solidFill>
              <a:srgbClr val="2E5A88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1219200" y="3017520"/>
              <a:ext cx="1139952" cy="112471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1</a:t>
              </a:r>
              <a:endParaRPr lang="en-US" sz="225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2668249" y="2815868"/>
            <a:ext cx="14127480" cy="13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of the tested variables </a:t>
            </a:r>
            <a:r>
              <a:rPr lang="en-US" sz="3200" b="1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(age, gender, diagnosis, discharge destination, length of stay, procedures, or comorbidity score</a:t>
            </a:r>
            <a:r>
              <a:rPr lang="en-US" sz="32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show a statistically significant association with readmission</a:t>
            </a:r>
            <a:endParaRPr lang="en-US" sz="3200" dirty="0">
              <a:solidFill>
                <a:srgbClr val="2B5D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674620" y="3387852"/>
            <a:ext cx="12565380" cy="754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2800" dirty="0">
              <a:solidFill>
                <a:srgbClr val="2B5D7C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219200" y="4467328"/>
            <a:ext cx="1139952" cy="1124712"/>
            <a:chOff x="1219200" y="4553712"/>
            <a:chExt cx="1139952" cy="1124712"/>
          </a:xfrm>
        </p:grpSpPr>
        <p:sp>
          <p:nvSpPr>
            <p:cNvPr id="11" name="Shape 8"/>
            <p:cNvSpPr/>
            <p:nvPr/>
          </p:nvSpPr>
          <p:spPr>
            <a:xfrm>
              <a:off x="1219200" y="4553712"/>
              <a:ext cx="1139952" cy="1124712"/>
            </a:xfrm>
            <a:prstGeom prst="ellipse">
              <a:avLst/>
            </a:prstGeom>
            <a:solidFill>
              <a:srgbClr val="2E5A88"/>
            </a:solidFill>
          </p:spPr>
        </p:sp>
        <p:sp>
          <p:nvSpPr>
            <p:cNvPr id="12" name="Text 9"/>
            <p:cNvSpPr/>
            <p:nvPr/>
          </p:nvSpPr>
          <p:spPr>
            <a:xfrm>
              <a:off x="1219200" y="4553712"/>
              <a:ext cx="1139952" cy="112471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2</a:t>
              </a:r>
              <a:endParaRPr lang="en-US" sz="225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2674620" y="4435615"/>
            <a:ext cx="14127480" cy="13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Multivariate logistic regression, Random Forest, and K-Means clustering all converge on the same conclusion: </a:t>
            </a:r>
            <a:r>
              <a:rPr lang="en-US" sz="32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combination of these variables meaningfully predicts readmission</a:t>
            </a:r>
            <a:endParaRPr lang="en-US" sz="3200" dirty="0">
              <a:solidFill>
                <a:srgbClr val="2B5D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219200" y="6089904"/>
            <a:ext cx="1139952" cy="1124712"/>
            <a:chOff x="1219200" y="6089904"/>
            <a:chExt cx="1139952" cy="1124712"/>
          </a:xfrm>
        </p:grpSpPr>
        <p:sp>
          <p:nvSpPr>
            <p:cNvPr id="15" name="Shape 12"/>
            <p:cNvSpPr/>
            <p:nvPr/>
          </p:nvSpPr>
          <p:spPr>
            <a:xfrm>
              <a:off x="1219200" y="6089904"/>
              <a:ext cx="1139952" cy="1124712"/>
            </a:xfrm>
            <a:prstGeom prst="ellipse">
              <a:avLst/>
            </a:prstGeom>
            <a:solidFill>
              <a:srgbClr val="2E5A88"/>
            </a:solidFill>
          </p:spPr>
        </p:sp>
        <p:sp>
          <p:nvSpPr>
            <p:cNvPr id="16" name="Text 13"/>
            <p:cNvSpPr/>
            <p:nvPr/>
          </p:nvSpPr>
          <p:spPr>
            <a:xfrm>
              <a:off x="1219200" y="6089904"/>
              <a:ext cx="1139952" cy="112471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3</a:t>
              </a:r>
              <a:endParaRPr lang="en-US" sz="225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2674620" y="5882749"/>
            <a:ext cx="14127480" cy="15390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Apparent gains from more complex models </a:t>
            </a:r>
            <a:r>
              <a:rPr lang="en-US" sz="3200" b="1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(Random Forest's 0.711 full-data ROC-AUC) </a:t>
            </a:r>
            <a:r>
              <a:rPr lang="en-US" sz="32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survive honest cross-validation, a reminder to always validate before trusting a training-data score</a:t>
            </a:r>
            <a:endParaRPr lang="en-US" sz="3200" dirty="0">
              <a:solidFill>
                <a:srgbClr val="2B5D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219200" y="7712480"/>
            <a:ext cx="1139952" cy="1124712"/>
            <a:chOff x="1219200" y="7626096"/>
            <a:chExt cx="1139952" cy="1124712"/>
          </a:xfrm>
        </p:grpSpPr>
        <p:sp>
          <p:nvSpPr>
            <p:cNvPr id="19" name="Shape 16"/>
            <p:cNvSpPr/>
            <p:nvPr/>
          </p:nvSpPr>
          <p:spPr>
            <a:xfrm>
              <a:off x="1219200" y="7626096"/>
              <a:ext cx="1139952" cy="1124712"/>
            </a:xfrm>
            <a:prstGeom prst="ellipse">
              <a:avLst/>
            </a:prstGeom>
            <a:solidFill>
              <a:srgbClr val="008991"/>
            </a:solidFill>
          </p:spPr>
        </p:sp>
        <p:sp>
          <p:nvSpPr>
            <p:cNvPr id="20" name="Text 17"/>
            <p:cNvSpPr/>
            <p:nvPr/>
          </p:nvSpPr>
          <p:spPr>
            <a:xfrm>
              <a:off x="1219200" y="7626096"/>
              <a:ext cx="1139952" cy="112471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4</a:t>
              </a:r>
              <a:endParaRPr lang="en-US" sz="2250" dirty="0"/>
            </a:p>
          </p:txBody>
        </p:sp>
      </p:grpSp>
      <p:sp>
        <p:nvSpPr>
          <p:cNvPr id="21" name="Text 18"/>
          <p:cNvSpPr/>
          <p:nvPr/>
        </p:nvSpPr>
        <p:spPr>
          <a:xfrm>
            <a:off x="2668249" y="7542430"/>
            <a:ext cx="14127480" cy="15390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implication: </a:t>
            </a:r>
            <a:r>
              <a:rPr lang="en-US" sz="3200" dirty="0">
                <a:solidFill>
                  <a:srgbClr val="2B5D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reducing readmissions in this population likely depends on factors outside this dataset (e.g., post-discharge follow-up, medication adherence, or social factors) this analysis is as valuable for ruling out what isn't driving it</a:t>
            </a:r>
            <a:endParaRPr lang="en-US" sz="3200" dirty="0">
              <a:solidFill>
                <a:srgbClr val="2B5D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"/>
          <p:cNvSpPr/>
          <p:nvPr/>
        </p:nvSpPr>
        <p:spPr>
          <a:xfrm>
            <a:off x="0" y="0"/>
            <a:ext cx="5955102" cy="1028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Shape 3"/>
          <p:cNvSpPr/>
          <p:nvPr/>
        </p:nvSpPr>
        <p:spPr>
          <a:xfrm>
            <a:off x="2684109" y="0"/>
            <a:ext cx="5955102" cy="10287000"/>
          </a:xfrm>
          <a:prstGeom prst="roundRect">
            <a:avLst>
              <a:gd name="adj" fmla="val 3673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3"/>
          <p:cNvSpPr/>
          <p:nvPr/>
        </p:nvSpPr>
        <p:spPr>
          <a:xfrm>
            <a:off x="5955102" y="0"/>
            <a:ext cx="5955102" cy="10287000"/>
          </a:xfrm>
          <a:prstGeom prst="roundRect">
            <a:avLst>
              <a:gd name="adj" fmla="val 3673"/>
            </a:avLst>
          </a:prstGeom>
          <a:solidFill>
            <a:schemeClr val="accent1">
              <a:lumMod val="60000"/>
              <a:lumOff val="40000"/>
            </a:schemeClr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3"/>
          <p:cNvSpPr/>
          <p:nvPr/>
        </p:nvSpPr>
        <p:spPr>
          <a:xfrm>
            <a:off x="9144000" y="0"/>
            <a:ext cx="5955102" cy="10287000"/>
          </a:xfrm>
          <a:prstGeom prst="roundRect">
            <a:avLst>
              <a:gd name="adj" fmla="val 3673"/>
            </a:avLst>
          </a:prstGeom>
          <a:solidFill>
            <a:schemeClr val="accent1">
              <a:lumMod val="75000"/>
            </a:schemeClr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3"/>
          <p:cNvSpPr/>
          <p:nvPr/>
        </p:nvSpPr>
        <p:spPr>
          <a:xfrm>
            <a:off x="12332898" y="0"/>
            <a:ext cx="5955102" cy="10287000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3"/>
          <p:cNvSpPr/>
          <p:nvPr/>
        </p:nvSpPr>
        <p:spPr>
          <a:xfrm>
            <a:off x="5023449" y="3854402"/>
            <a:ext cx="8241102" cy="2578196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38100">
            <a:solidFill>
              <a:srgbClr val="008991"/>
            </a:solidFill>
          </a:ln>
          <a:effectLst>
            <a:outerShdw blurRad="127000" dist="38100" dir="5400000" algn="bl" rotWithShape="0">
              <a:srgbClr val="162B47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61660" y="4536948"/>
            <a:ext cx="6964680" cy="1213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9600" b="1" kern="0" spc="300" dirty="0">
                <a:solidFill>
                  <a:srgbClr val="008991"/>
                </a:solidFill>
                <a:latin typeface="Berlin Sans FB Demi" panose="020E0802020502020306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9600" dirty="0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F6B8A"/>
      </a:accent1>
      <a:accent2>
        <a:srgbClr val="008991"/>
      </a:accent2>
      <a:accent3>
        <a:srgbClr val="75B7B2"/>
      </a:accent3>
      <a:accent4>
        <a:srgbClr val="6B8299"/>
      </a:accent4>
      <a:accent5>
        <a:srgbClr val="80B8C4"/>
      </a:accent5>
      <a:accent6>
        <a:srgbClr val="D3A4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F6B8A"/>
      </a:accent1>
      <a:accent2>
        <a:srgbClr val="008991"/>
      </a:accent2>
      <a:accent3>
        <a:srgbClr val="75B7B2"/>
      </a:accent3>
      <a:accent4>
        <a:srgbClr val="6B8299"/>
      </a:accent4>
      <a:accent5>
        <a:srgbClr val="80B8C4"/>
      </a:accent5>
      <a:accent6>
        <a:srgbClr val="D3A4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10168</Words>
  <Application>WPS Presentation</Application>
  <PresentationFormat>Custom</PresentationFormat>
  <Paragraphs>806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53" baseType="lpstr">
      <vt:lpstr>Arial</vt:lpstr>
      <vt:lpstr>SimSun</vt:lpstr>
      <vt:lpstr>Wingdings</vt:lpstr>
      <vt:lpstr>Cambria Bold</vt:lpstr>
      <vt:lpstr>Calibri (MS)</vt:lpstr>
      <vt:lpstr>League Spartan</vt:lpstr>
      <vt:lpstr>Calibri (MS) Bold</vt:lpstr>
      <vt:lpstr>Calibri (MS) Bold</vt:lpstr>
      <vt:lpstr>Cambria</vt:lpstr>
      <vt:lpstr>Cambria</vt:lpstr>
      <vt:lpstr>Cambria</vt:lpstr>
      <vt:lpstr>Calibri</vt:lpstr>
      <vt:lpstr>Calibri</vt:lpstr>
      <vt:lpstr>Calibri</vt:lpstr>
      <vt:lpstr>Verdana</vt:lpstr>
      <vt:lpstr>Verdana</vt:lpstr>
      <vt:lpstr>Verdana</vt:lpstr>
      <vt:lpstr>Microsoft YaHei</vt:lpstr>
      <vt:lpstr>Arial Unicode MS</vt:lpstr>
      <vt:lpstr>Georgia</vt:lpstr>
      <vt:lpstr>Georgia</vt:lpstr>
      <vt:lpstr>Georgia</vt:lpstr>
      <vt:lpstr>Calibri Light</vt:lpstr>
      <vt:lpstr>Times New Roman</vt:lpstr>
      <vt:lpstr>Berlin Sans FB Demi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Hospital_Readmission_Analysis.pptx</dc:title>
  <dc:creator>Bella</dc:creator>
  <cp:lastModifiedBy>Waled Hussien</cp:lastModifiedBy>
  <cp:revision>41</cp:revision>
  <dcterms:created xsi:type="dcterms:W3CDTF">2006-08-16T00:00:00Z</dcterms:created>
  <dcterms:modified xsi:type="dcterms:W3CDTF">2026-10-14T07:39:03Z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A26840D38DC5468AA103F8CC4FE3DD59_13</vt:lpwstr>
  </property>
  <property fmtid="{D5CDD505-2E9C-101B-9397-08002B2CF9AE}" pid="3" name="KSOProductBuildVer">
    <vt:lpwstr>1033-12.1.0.28485</vt:lpwstr>
  </property>
</Properties>
</file>